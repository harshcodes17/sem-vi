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Nexa Bold" charset="1" panose="02000500000000000000"/>
      <p:regular r:id="rId13"/>
    </p:embeddedFont>
    <p:embeddedFont>
      <p:font typeface="Solomon Sans" charset="1" panose="020000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37EBD">
                <a:alpha val="100000"/>
              </a:srgbClr>
            </a:gs>
            <a:gs pos="100000">
              <a:srgbClr val="AEDDDF">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5400000">
            <a:off x="7291470" y="3053216"/>
            <a:ext cx="10287000" cy="4180567"/>
            <a:chOff x="0" y="0"/>
            <a:chExt cx="2709333" cy="1101055"/>
          </a:xfrm>
        </p:grpSpPr>
        <p:sp>
          <p:nvSpPr>
            <p:cNvPr name="Freeform 3" id="3"/>
            <p:cNvSpPr/>
            <p:nvPr/>
          </p:nvSpPr>
          <p:spPr>
            <a:xfrm flipH="false" flipV="false" rot="0">
              <a:off x="0" y="0"/>
              <a:ext cx="2709333" cy="1101055"/>
            </a:xfrm>
            <a:custGeom>
              <a:avLst/>
              <a:gdLst/>
              <a:ahLst/>
              <a:cxnLst/>
              <a:rect r="r" b="b" t="t" l="l"/>
              <a:pathLst>
                <a:path h="1101055" w="2709333">
                  <a:moveTo>
                    <a:pt x="0" y="0"/>
                  </a:moveTo>
                  <a:lnTo>
                    <a:pt x="2709333" y="0"/>
                  </a:lnTo>
                  <a:lnTo>
                    <a:pt x="2709333" y="1101055"/>
                  </a:lnTo>
                  <a:lnTo>
                    <a:pt x="0" y="1101055"/>
                  </a:lnTo>
                  <a:close/>
                </a:path>
              </a:pathLst>
            </a:custGeom>
            <a:gradFill rotWithShape="true">
              <a:gsLst>
                <a:gs pos="0">
                  <a:srgbClr val="F7FAFF">
                    <a:alpha val="25000"/>
                  </a:srgbClr>
                </a:gs>
                <a:gs pos="100000">
                  <a:srgbClr val="AEDDDF">
                    <a:alpha val="0"/>
                  </a:srgbClr>
                </a:gs>
              </a:gsLst>
              <a:lin ang="5400000"/>
            </a:gradFill>
          </p:spPr>
        </p:sp>
        <p:sp>
          <p:nvSpPr>
            <p:cNvPr name="TextBox 4" id="4"/>
            <p:cNvSpPr txBox="true"/>
            <p:nvPr/>
          </p:nvSpPr>
          <p:spPr>
            <a:xfrm>
              <a:off x="0" y="-85725"/>
              <a:ext cx="2709333" cy="1186780"/>
            </a:xfrm>
            <a:prstGeom prst="rect">
              <a:avLst/>
            </a:prstGeom>
          </p:spPr>
          <p:txBody>
            <a:bodyPr anchor="ctr" rtlCol="false" tIns="50800" lIns="50800" bIns="50800" rIns="50800"/>
            <a:lstStyle/>
            <a:p>
              <a:pPr algn="ctr">
                <a:lnSpc>
                  <a:spcPts val="3562"/>
                </a:lnSpc>
              </a:pPr>
            </a:p>
          </p:txBody>
        </p:sp>
      </p:grpSp>
      <p:grpSp>
        <p:nvGrpSpPr>
          <p:cNvPr name="Group 5" id="5"/>
          <p:cNvGrpSpPr/>
          <p:nvPr/>
        </p:nvGrpSpPr>
        <p:grpSpPr>
          <a:xfrm rot="-5400000">
            <a:off x="11472037" y="3053216"/>
            <a:ext cx="10287000" cy="4180567"/>
            <a:chOff x="0" y="0"/>
            <a:chExt cx="2709333" cy="1101055"/>
          </a:xfrm>
        </p:grpSpPr>
        <p:sp>
          <p:nvSpPr>
            <p:cNvPr name="Freeform 6" id="6"/>
            <p:cNvSpPr/>
            <p:nvPr/>
          </p:nvSpPr>
          <p:spPr>
            <a:xfrm flipH="false" flipV="false" rot="0">
              <a:off x="0" y="0"/>
              <a:ext cx="2709333" cy="1101055"/>
            </a:xfrm>
            <a:custGeom>
              <a:avLst/>
              <a:gdLst/>
              <a:ahLst/>
              <a:cxnLst/>
              <a:rect r="r" b="b" t="t" l="l"/>
              <a:pathLst>
                <a:path h="1101055" w="2709333">
                  <a:moveTo>
                    <a:pt x="0" y="0"/>
                  </a:moveTo>
                  <a:lnTo>
                    <a:pt x="2709333" y="0"/>
                  </a:lnTo>
                  <a:lnTo>
                    <a:pt x="2709333" y="1101055"/>
                  </a:lnTo>
                  <a:lnTo>
                    <a:pt x="0" y="1101055"/>
                  </a:lnTo>
                  <a:close/>
                </a:path>
              </a:pathLst>
            </a:custGeom>
            <a:gradFill rotWithShape="true">
              <a:gsLst>
                <a:gs pos="0">
                  <a:srgbClr val="F7FAFF">
                    <a:alpha val="25000"/>
                  </a:srgbClr>
                </a:gs>
                <a:gs pos="100000">
                  <a:srgbClr val="AEDDDF">
                    <a:alpha val="0"/>
                  </a:srgbClr>
                </a:gs>
              </a:gsLst>
              <a:lin ang="5400000"/>
            </a:gradFill>
          </p:spPr>
        </p:sp>
        <p:sp>
          <p:nvSpPr>
            <p:cNvPr name="TextBox 7" id="7"/>
            <p:cNvSpPr txBox="true"/>
            <p:nvPr/>
          </p:nvSpPr>
          <p:spPr>
            <a:xfrm>
              <a:off x="0" y="-85725"/>
              <a:ext cx="2709333" cy="1186780"/>
            </a:xfrm>
            <a:prstGeom prst="rect">
              <a:avLst/>
            </a:prstGeom>
          </p:spPr>
          <p:txBody>
            <a:bodyPr anchor="ctr" rtlCol="false" tIns="50800" lIns="50800" bIns="50800" rIns="50800"/>
            <a:lstStyle/>
            <a:p>
              <a:pPr algn="ctr">
                <a:lnSpc>
                  <a:spcPts val="3562"/>
                </a:lnSpc>
              </a:pPr>
            </a:p>
          </p:txBody>
        </p:sp>
      </p:grpSp>
      <p:sp>
        <p:nvSpPr>
          <p:cNvPr name="TextBox 8" id="8"/>
          <p:cNvSpPr txBox="true"/>
          <p:nvPr/>
        </p:nvSpPr>
        <p:spPr>
          <a:xfrm rot="0">
            <a:off x="1544564" y="1988736"/>
            <a:ext cx="8610370" cy="2644168"/>
          </a:xfrm>
          <a:prstGeom prst="rect">
            <a:avLst/>
          </a:prstGeom>
        </p:spPr>
        <p:txBody>
          <a:bodyPr anchor="t" rtlCol="false" tIns="0" lIns="0" bIns="0" rIns="0">
            <a:spAutoFit/>
          </a:bodyPr>
          <a:lstStyle/>
          <a:p>
            <a:pPr algn="l">
              <a:lnSpc>
                <a:spcPts val="10613"/>
              </a:lnSpc>
            </a:pPr>
            <a:r>
              <a:rPr lang="en-US" sz="7581" b="true">
                <a:solidFill>
                  <a:srgbClr val="FFFFFF"/>
                </a:solidFill>
                <a:latin typeface="Nexa Bold"/>
                <a:ea typeface="Nexa Bold"/>
                <a:cs typeface="Nexa Bold"/>
                <a:sym typeface="Nexa Bold"/>
              </a:rPr>
              <a:t>23.SOFTWARE ARCHITECTURE</a:t>
            </a:r>
          </a:p>
        </p:txBody>
      </p:sp>
      <p:sp>
        <p:nvSpPr>
          <p:cNvPr name="Freeform 9" id="9"/>
          <p:cNvSpPr/>
          <p:nvPr/>
        </p:nvSpPr>
        <p:spPr>
          <a:xfrm flipH="false" flipV="false" rot="0">
            <a:off x="-1284796" y="-1808302"/>
            <a:ext cx="3273288" cy="3323135"/>
          </a:xfrm>
          <a:custGeom>
            <a:avLst/>
            <a:gdLst/>
            <a:ahLst/>
            <a:cxnLst/>
            <a:rect r="r" b="b" t="t" l="l"/>
            <a:pathLst>
              <a:path h="3323135" w="3273288">
                <a:moveTo>
                  <a:pt x="0" y="0"/>
                </a:moveTo>
                <a:lnTo>
                  <a:pt x="3273289" y="0"/>
                </a:lnTo>
                <a:lnTo>
                  <a:pt x="3273289" y="3323135"/>
                </a:lnTo>
                <a:lnTo>
                  <a:pt x="0" y="3323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238595" y="6368715"/>
            <a:ext cx="7309170" cy="7420478"/>
          </a:xfrm>
          <a:custGeom>
            <a:avLst/>
            <a:gdLst/>
            <a:ahLst/>
            <a:cxnLst/>
            <a:rect r="r" b="b" t="t" l="l"/>
            <a:pathLst>
              <a:path h="7420478" w="7309170">
                <a:moveTo>
                  <a:pt x="0" y="0"/>
                </a:moveTo>
                <a:lnTo>
                  <a:pt x="7309170" y="0"/>
                </a:lnTo>
                <a:lnTo>
                  <a:pt x="7309170" y="7420477"/>
                </a:lnTo>
                <a:lnTo>
                  <a:pt x="0" y="74204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883222">
            <a:off x="8941219" y="1833140"/>
            <a:ext cx="9012237" cy="7085872"/>
          </a:xfrm>
          <a:custGeom>
            <a:avLst/>
            <a:gdLst/>
            <a:ahLst/>
            <a:cxnLst/>
            <a:rect r="r" b="b" t="t" l="l"/>
            <a:pathLst>
              <a:path h="7085872" w="9012237">
                <a:moveTo>
                  <a:pt x="0" y="0"/>
                </a:moveTo>
                <a:lnTo>
                  <a:pt x="9012237" y="0"/>
                </a:lnTo>
                <a:lnTo>
                  <a:pt x="9012237" y="7085872"/>
                </a:lnTo>
                <a:lnTo>
                  <a:pt x="0" y="7085872"/>
                </a:lnTo>
                <a:lnTo>
                  <a:pt x="0" y="0"/>
                </a:lnTo>
                <a:close/>
              </a:path>
            </a:pathLst>
          </a:custGeom>
          <a:blipFill>
            <a:blip r:embed="rId4"/>
            <a:stretch>
              <a:fillRect l="0" t="0" r="0" b="0"/>
            </a:stretch>
          </a:blipFill>
        </p:spPr>
      </p:sp>
      <p:grpSp>
        <p:nvGrpSpPr>
          <p:cNvPr name="Group 12" id="12"/>
          <p:cNvGrpSpPr/>
          <p:nvPr/>
        </p:nvGrpSpPr>
        <p:grpSpPr>
          <a:xfrm rot="0">
            <a:off x="1544564" y="5918779"/>
            <a:ext cx="5492173" cy="1141071"/>
            <a:chOff x="0" y="0"/>
            <a:chExt cx="7322897" cy="1521428"/>
          </a:xfrm>
        </p:grpSpPr>
        <p:grpSp>
          <p:nvGrpSpPr>
            <p:cNvPr name="Group 13" id="13"/>
            <p:cNvGrpSpPr/>
            <p:nvPr/>
          </p:nvGrpSpPr>
          <p:grpSpPr>
            <a:xfrm rot="0">
              <a:off x="0" y="0"/>
              <a:ext cx="7322897" cy="1521428"/>
              <a:chOff x="0" y="0"/>
              <a:chExt cx="1446498" cy="300529"/>
            </a:xfrm>
          </p:grpSpPr>
          <p:sp>
            <p:nvSpPr>
              <p:cNvPr name="Freeform 14" id="14"/>
              <p:cNvSpPr/>
              <p:nvPr/>
            </p:nvSpPr>
            <p:spPr>
              <a:xfrm flipH="false" flipV="false" rot="0">
                <a:off x="0" y="0"/>
                <a:ext cx="1446498" cy="300529"/>
              </a:xfrm>
              <a:custGeom>
                <a:avLst/>
                <a:gdLst/>
                <a:ahLst/>
                <a:cxnLst/>
                <a:rect r="r" b="b" t="t" l="l"/>
                <a:pathLst>
                  <a:path h="300529" w="1446498">
                    <a:moveTo>
                      <a:pt x="19735" y="0"/>
                    </a:moveTo>
                    <a:lnTo>
                      <a:pt x="1426763" y="0"/>
                    </a:lnTo>
                    <a:cubicBezTo>
                      <a:pt x="1437663" y="0"/>
                      <a:pt x="1446498" y="8836"/>
                      <a:pt x="1446498" y="19735"/>
                    </a:cubicBezTo>
                    <a:lnTo>
                      <a:pt x="1446498" y="280794"/>
                    </a:lnTo>
                    <a:cubicBezTo>
                      <a:pt x="1446498" y="286028"/>
                      <a:pt x="1444419" y="291048"/>
                      <a:pt x="1440718" y="294749"/>
                    </a:cubicBezTo>
                    <a:cubicBezTo>
                      <a:pt x="1437017" y="298450"/>
                      <a:pt x="1431997" y="300529"/>
                      <a:pt x="1426763" y="300529"/>
                    </a:cubicBezTo>
                    <a:lnTo>
                      <a:pt x="19735" y="300529"/>
                    </a:lnTo>
                    <a:cubicBezTo>
                      <a:pt x="14501" y="300529"/>
                      <a:pt x="9481" y="298450"/>
                      <a:pt x="5780" y="294749"/>
                    </a:cubicBezTo>
                    <a:cubicBezTo>
                      <a:pt x="2079" y="291048"/>
                      <a:pt x="0" y="286028"/>
                      <a:pt x="0" y="280794"/>
                    </a:cubicBezTo>
                    <a:lnTo>
                      <a:pt x="0" y="19735"/>
                    </a:lnTo>
                    <a:cubicBezTo>
                      <a:pt x="0" y="8836"/>
                      <a:pt x="8836" y="0"/>
                      <a:pt x="19735" y="0"/>
                    </a:cubicBezTo>
                    <a:close/>
                  </a:path>
                </a:pathLst>
              </a:custGeom>
              <a:solidFill>
                <a:srgbClr val="F5F5F5">
                  <a:alpha val="50980"/>
                </a:srgbClr>
              </a:solidFill>
              <a:ln w="38100" cap="sq">
                <a:solidFill>
                  <a:srgbClr val="FFFFFF">
                    <a:alpha val="50980"/>
                  </a:srgbClr>
                </a:solidFill>
                <a:prstDash val="solid"/>
                <a:miter/>
              </a:ln>
            </p:spPr>
          </p:sp>
          <p:sp>
            <p:nvSpPr>
              <p:cNvPr name="TextBox 15" id="15"/>
              <p:cNvSpPr txBox="true"/>
              <p:nvPr/>
            </p:nvSpPr>
            <p:spPr>
              <a:xfrm>
                <a:off x="0" y="-85725"/>
                <a:ext cx="1446498" cy="386254"/>
              </a:xfrm>
              <a:prstGeom prst="rect">
                <a:avLst/>
              </a:prstGeom>
            </p:spPr>
            <p:txBody>
              <a:bodyPr anchor="ctr" rtlCol="false" tIns="50800" lIns="50800" bIns="50800" rIns="50800"/>
              <a:lstStyle/>
              <a:p>
                <a:pPr algn="ctr">
                  <a:lnSpc>
                    <a:spcPts val="3562"/>
                  </a:lnSpc>
                </a:pPr>
              </a:p>
            </p:txBody>
          </p:sp>
        </p:grpSp>
        <p:sp>
          <p:nvSpPr>
            <p:cNvPr name="TextBox 16" id="16"/>
            <p:cNvSpPr txBox="true"/>
            <p:nvPr/>
          </p:nvSpPr>
          <p:spPr>
            <a:xfrm rot="0">
              <a:off x="886654" y="163445"/>
              <a:ext cx="6405284" cy="1319883"/>
            </a:xfrm>
            <a:prstGeom prst="rect">
              <a:avLst/>
            </a:prstGeom>
          </p:spPr>
          <p:txBody>
            <a:bodyPr anchor="t" rtlCol="false" tIns="0" lIns="0" bIns="0" rIns="0">
              <a:spAutoFit/>
            </a:bodyPr>
            <a:lstStyle/>
            <a:p>
              <a:pPr algn="l">
                <a:lnSpc>
                  <a:spcPts val="4077"/>
                </a:lnSpc>
              </a:pPr>
              <a:r>
                <a:rPr lang="en-US" sz="2912" b="true">
                  <a:solidFill>
                    <a:srgbClr val="FFFFFF"/>
                  </a:solidFill>
                  <a:latin typeface="Nexa Bold"/>
                  <a:ea typeface="Nexa Bold"/>
                  <a:cs typeface="Nexa Bold"/>
                  <a:sym typeface="Nexa Bold"/>
                </a:rPr>
                <a:t>Exploring Web-Enabled Database Applications</a:t>
              </a:r>
            </a:p>
          </p:txBody>
        </p:sp>
      </p:grpSp>
      <p:sp>
        <p:nvSpPr>
          <p:cNvPr name="Freeform 17" id="17"/>
          <p:cNvSpPr/>
          <p:nvPr/>
        </p:nvSpPr>
        <p:spPr>
          <a:xfrm flipH="false" flipV="false" rot="0">
            <a:off x="689302" y="639694"/>
            <a:ext cx="1102911" cy="1102911"/>
          </a:xfrm>
          <a:custGeom>
            <a:avLst/>
            <a:gdLst/>
            <a:ahLst/>
            <a:cxnLst/>
            <a:rect r="r" b="b" t="t" l="l"/>
            <a:pathLst>
              <a:path h="1102911" w="1102911">
                <a:moveTo>
                  <a:pt x="0" y="0"/>
                </a:moveTo>
                <a:lnTo>
                  <a:pt x="1102912" y="0"/>
                </a:lnTo>
                <a:lnTo>
                  <a:pt x="1102912" y="1102912"/>
                </a:lnTo>
                <a:lnTo>
                  <a:pt x="0" y="11029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9728397" y="8319305"/>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1544564" y="8319305"/>
            <a:ext cx="7116299" cy="1141071"/>
            <a:chOff x="0" y="0"/>
            <a:chExt cx="9488398" cy="1521428"/>
          </a:xfrm>
        </p:grpSpPr>
        <p:grpSp>
          <p:nvGrpSpPr>
            <p:cNvPr name="Group 20" id="20"/>
            <p:cNvGrpSpPr/>
            <p:nvPr/>
          </p:nvGrpSpPr>
          <p:grpSpPr>
            <a:xfrm rot="0">
              <a:off x="0" y="0"/>
              <a:ext cx="8325529" cy="1521428"/>
              <a:chOff x="0" y="0"/>
              <a:chExt cx="1644549" cy="300529"/>
            </a:xfrm>
          </p:grpSpPr>
          <p:sp>
            <p:nvSpPr>
              <p:cNvPr name="Freeform 21" id="21"/>
              <p:cNvSpPr/>
              <p:nvPr/>
            </p:nvSpPr>
            <p:spPr>
              <a:xfrm flipH="false" flipV="false" rot="0">
                <a:off x="0" y="0"/>
                <a:ext cx="1644549" cy="300529"/>
              </a:xfrm>
              <a:custGeom>
                <a:avLst/>
                <a:gdLst/>
                <a:ahLst/>
                <a:cxnLst/>
                <a:rect r="r" b="b" t="t" l="l"/>
                <a:pathLst>
                  <a:path h="300529" w="1644549">
                    <a:moveTo>
                      <a:pt x="17358" y="0"/>
                    </a:moveTo>
                    <a:lnTo>
                      <a:pt x="1627191" y="0"/>
                    </a:lnTo>
                    <a:cubicBezTo>
                      <a:pt x="1636777" y="0"/>
                      <a:pt x="1644549" y="7772"/>
                      <a:pt x="1644549" y="17358"/>
                    </a:cubicBezTo>
                    <a:lnTo>
                      <a:pt x="1644549" y="283171"/>
                    </a:lnTo>
                    <a:cubicBezTo>
                      <a:pt x="1644549" y="292757"/>
                      <a:pt x="1636777" y="300529"/>
                      <a:pt x="1627191" y="300529"/>
                    </a:cubicBezTo>
                    <a:lnTo>
                      <a:pt x="17358" y="300529"/>
                    </a:lnTo>
                    <a:cubicBezTo>
                      <a:pt x="7772" y="300529"/>
                      <a:pt x="0" y="292757"/>
                      <a:pt x="0" y="283171"/>
                    </a:cubicBezTo>
                    <a:lnTo>
                      <a:pt x="0" y="17358"/>
                    </a:lnTo>
                    <a:cubicBezTo>
                      <a:pt x="0" y="7772"/>
                      <a:pt x="7772" y="0"/>
                      <a:pt x="17358" y="0"/>
                    </a:cubicBezTo>
                    <a:close/>
                  </a:path>
                </a:pathLst>
              </a:custGeom>
              <a:solidFill>
                <a:srgbClr val="737373">
                  <a:alpha val="50980"/>
                </a:srgbClr>
              </a:solidFill>
              <a:ln w="38100" cap="sq">
                <a:solidFill>
                  <a:srgbClr val="FFFFFF">
                    <a:alpha val="50980"/>
                  </a:srgbClr>
                </a:solidFill>
                <a:prstDash val="solid"/>
                <a:miter/>
              </a:ln>
            </p:spPr>
          </p:sp>
          <p:sp>
            <p:nvSpPr>
              <p:cNvPr name="TextBox 22" id="22"/>
              <p:cNvSpPr txBox="true"/>
              <p:nvPr/>
            </p:nvSpPr>
            <p:spPr>
              <a:xfrm>
                <a:off x="0" y="-85725"/>
                <a:ext cx="1644549" cy="386254"/>
              </a:xfrm>
              <a:prstGeom prst="rect">
                <a:avLst/>
              </a:prstGeom>
            </p:spPr>
            <p:txBody>
              <a:bodyPr anchor="ctr" rtlCol="false" tIns="50800" lIns="50800" bIns="50800" rIns="50800"/>
              <a:lstStyle/>
              <a:p>
                <a:pPr algn="ctr">
                  <a:lnSpc>
                    <a:spcPts val="3562"/>
                  </a:lnSpc>
                </a:pPr>
              </a:p>
            </p:txBody>
          </p:sp>
        </p:grpSp>
        <p:sp>
          <p:nvSpPr>
            <p:cNvPr name="TextBox 23" id="23"/>
            <p:cNvSpPr txBox="true"/>
            <p:nvPr/>
          </p:nvSpPr>
          <p:spPr>
            <a:xfrm rot="0">
              <a:off x="381971" y="76960"/>
              <a:ext cx="9106427" cy="1319883"/>
            </a:xfrm>
            <a:prstGeom prst="rect">
              <a:avLst/>
            </a:prstGeom>
          </p:spPr>
          <p:txBody>
            <a:bodyPr anchor="t" rtlCol="false" tIns="0" lIns="0" bIns="0" rIns="0">
              <a:spAutoFit/>
            </a:bodyPr>
            <a:lstStyle/>
            <a:p>
              <a:pPr algn="l">
                <a:lnSpc>
                  <a:spcPts val="4077"/>
                </a:lnSpc>
              </a:pPr>
              <a:r>
                <a:rPr lang="en-US" sz="2912" b="true">
                  <a:solidFill>
                    <a:srgbClr val="FFFFFF"/>
                  </a:solidFill>
                  <a:latin typeface="Nexa Bold"/>
                  <a:ea typeface="Nexa Bold"/>
                  <a:cs typeface="Nexa Bold"/>
                  <a:sym typeface="Nexa Bold"/>
                </a:rPr>
                <a:t>Name : Harshavardhan Bamane</a:t>
              </a:r>
            </a:p>
            <a:p>
              <a:pPr algn="l">
                <a:lnSpc>
                  <a:spcPts val="4077"/>
                </a:lnSpc>
              </a:pPr>
              <a:r>
                <a:rPr lang="en-US" sz="2912" b="true">
                  <a:solidFill>
                    <a:srgbClr val="FFFFFF"/>
                  </a:solidFill>
                  <a:latin typeface="Nexa Bold"/>
                  <a:ea typeface="Nexa Bold"/>
                  <a:cs typeface="Nexa Bold"/>
                  <a:sym typeface="Nexa Bold"/>
                </a:rPr>
                <a:t>PRN : 22510112</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6967" y="3437257"/>
            <a:ext cx="18288000" cy="4834453"/>
            <a:chOff x="0" y="0"/>
            <a:chExt cx="4816593" cy="1273272"/>
          </a:xfrm>
        </p:grpSpPr>
        <p:sp>
          <p:nvSpPr>
            <p:cNvPr name="Freeform 3" id="3"/>
            <p:cNvSpPr/>
            <p:nvPr/>
          </p:nvSpPr>
          <p:spPr>
            <a:xfrm flipH="false" flipV="false" rot="0">
              <a:off x="0" y="0"/>
              <a:ext cx="4816592" cy="1273272"/>
            </a:xfrm>
            <a:custGeom>
              <a:avLst/>
              <a:gdLst/>
              <a:ahLst/>
              <a:cxnLst/>
              <a:rect r="r" b="b" t="t" l="l"/>
              <a:pathLst>
                <a:path h="1273272" w="4816592">
                  <a:moveTo>
                    <a:pt x="0" y="0"/>
                  </a:moveTo>
                  <a:lnTo>
                    <a:pt x="4816592" y="0"/>
                  </a:lnTo>
                  <a:lnTo>
                    <a:pt x="4816592" y="1273272"/>
                  </a:lnTo>
                  <a:lnTo>
                    <a:pt x="0" y="1273272"/>
                  </a:lnTo>
                  <a:close/>
                </a:path>
              </a:pathLst>
            </a:custGeom>
            <a:gradFill rotWithShape="true">
              <a:gsLst>
                <a:gs pos="0">
                  <a:srgbClr val="537EBD">
                    <a:alpha val="100000"/>
                  </a:srgbClr>
                </a:gs>
                <a:gs pos="100000">
                  <a:srgbClr val="AEDDDF">
                    <a:alpha val="100000"/>
                  </a:srgbClr>
                </a:gs>
              </a:gsLst>
              <a:lin ang="5400000"/>
            </a:gradFill>
          </p:spPr>
        </p:sp>
        <p:sp>
          <p:nvSpPr>
            <p:cNvPr name="TextBox 4" id="4"/>
            <p:cNvSpPr txBox="true"/>
            <p:nvPr/>
          </p:nvSpPr>
          <p:spPr>
            <a:xfrm>
              <a:off x="0" y="-85725"/>
              <a:ext cx="4816593" cy="1358997"/>
            </a:xfrm>
            <a:prstGeom prst="rect">
              <a:avLst/>
            </a:prstGeom>
          </p:spPr>
          <p:txBody>
            <a:bodyPr anchor="ctr" rtlCol="false" tIns="50800" lIns="50800" bIns="50800" rIns="50800"/>
            <a:lstStyle/>
            <a:p>
              <a:pPr algn="ctr">
                <a:lnSpc>
                  <a:spcPts val="3562"/>
                </a:lnSpc>
              </a:pPr>
            </a:p>
          </p:txBody>
        </p:sp>
      </p:grpSp>
      <p:sp>
        <p:nvSpPr>
          <p:cNvPr name="Freeform 5" id="5"/>
          <p:cNvSpPr/>
          <p:nvPr/>
        </p:nvSpPr>
        <p:spPr>
          <a:xfrm flipH="false" flipV="false" rot="0">
            <a:off x="12711554" y="6670708"/>
            <a:ext cx="6847525" cy="6951802"/>
          </a:xfrm>
          <a:custGeom>
            <a:avLst/>
            <a:gdLst/>
            <a:ahLst/>
            <a:cxnLst/>
            <a:rect r="r" b="b" t="t" l="l"/>
            <a:pathLst>
              <a:path h="6951802" w="6847525">
                <a:moveTo>
                  <a:pt x="0" y="0"/>
                </a:moveTo>
                <a:lnTo>
                  <a:pt x="6847525" y="0"/>
                </a:lnTo>
                <a:lnTo>
                  <a:pt x="6847525" y="6951802"/>
                </a:lnTo>
                <a:lnTo>
                  <a:pt x="0" y="6951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648523" y="-1309409"/>
            <a:ext cx="5810979" cy="5899471"/>
          </a:xfrm>
          <a:custGeom>
            <a:avLst/>
            <a:gdLst/>
            <a:ahLst/>
            <a:cxnLst/>
            <a:rect r="r" b="b" t="t" l="l"/>
            <a:pathLst>
              <a:path h="5899471" w="5810979">
                <a:moveTo>
                  <a:pt x="0" y="0"/>
                </a:moveTo>
                <a:lnTo>
                  <a:pt x="5810979" y="0"/>
                </a:lnTo>
                <a:lnTo>
                  <a:pt x="5810979" y="5899472"/>
                </a:lnTo>
                <a:lnTo>
                  <a:pt x="0" y="5899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4106995" y="4796933"/>
            <a:ext cx="11339023" cy="2944761"/>
            <a:chOff x="0" y="0"/>
            <a:chExt cx="2986409" cy="775575"/>
          </a:xfrm>
        </p:grpSpPr>
        <p:sp>
          <p:nvSpPr>
            <p:cNvPr name="Freeform 8" id="8"/>
            <p:cNvSpPr/>
            <p:nvPr/>
          </p:nvSpPr>
          <p:spPr>
            <a:xfrm flipH="false" flipV="false" rot="0">
              <a:off x="0" y="0"/>
              <a:ext cx="2986409" cy="775575"/>
            </a:xfrm>
            <a:custGeom>
              <a:avLst/>
              <a:gdLst/>
              <a:ahLst/>
              <a:cxnLst/>
              <a:rect r="r" b="b" t="t" l="l"/>
              <a:pathLst>
                <a:path h="775575" w="2986409">
                  <a:moveTo>
                    <a:pt x="16386" y="0"/>
                  </a:moveTo>
                  <a:lnTo>
                    <a:pt x="2970023" y="0"/>
                  </a:lnTo>
                  <a:cubicBezTo>
                    <a:pt x="2979073" y="0"/>
                    <a:pt x="2986409" y="7336"/>
                    <a:pt x="2986409" y="16386"/>
                  </a:cubicBezTo>
                  <a:lnTo>
                    <a:pt x="2986409" y="759189"/>
                  </a:lnTo>
                  <a:cubicBezTo>
                    <a:pt x="2986409" y="768238"/>
                    <a:pt x="2979073" y="775575"/>
                    <a:pt x="2970023" y="775575"/>
                  </a:cubicBezTo>
                  <a:lnTo>
                    <a:pt x="16386" y="775575"/>
                  </a:lnTo>
                  <a:cubicBezTo>
                    <a:pt x="7336" y="775575"/>
                    <a:pt x="0" y="768238"/>
                    <a:pt x="0" y="759189"/>
                  </a:cubicBezTo>
                  <a:lnTo>
                    <a:pt x="0" y="16386"/>
                  </a:lnTo>
                  <a:cubicBezTo>
                    <a:pt x="0" y="7336"/>
                    <a:pt x="7336" y="0"/>
                    <a:pt x="16386" y="0"/>
                  </a:cubicBezTo>
                  <a:close/>
                </a:path>
              </a:pathLst>
            </a:custGeom>
            <a:solidFill>
              <a:srgbClr val="FFFFFF"/>
            </a:solidFill>
            <a:ln w="104775" cap="rnd">
              <a:solidFill>
                <a:srgbClr val="F5F5F5"/>
              </a:solidFill>
              <a:prstDash val="solid"/>
              <a:round/>
            </a:ln>
          </p:spPr>
        </p:sp>
        <p:sp>
          <p:nvSpPr>
            <p:cNvPr name="TextBox 9" id="9"/>
            <p:cNvSpPr txBox="true"/>
            <p:nvPr/>
          </p:nvSpPr>
          <p:spPr>
            <a:xfrm>
              <a:off x="0" y="-85725"/>
              <a:ext cx="2986409" cy="861300"/>
            </a:xfrm>
            <a:prstGeom prst="rect">
              <a:avLst/>
            </a:prstGeom>
          </p:spPr>
          <p:txBody>
            <a:bodyPr anchor="ctr" rtlCol="false" tIns="50800" lIns="50800" bIns="50800" rIns="50800"/>
            <a:lstStyle/>
            <a:p>
              <a:pPr algn="ctr">
                <a:lnSpc>
                  <a:spcPts val="3562"/>
                </a:lnSpc>
              </a:pPr>
            </a:p>
          </p:txBody>
        </p:sp>
      </p:grpSp>
      <p:sp>
        <p:nvSpPr>
          <p:cNvPr name="TextBox 10" id="10"/>
          <p:cNvSpPr txBox="true"/>
          <p:nvPr/>
        </p:nvSpPr>
        <p:spPr>
          <a:xfrm rot="0">
            <a:off x="3511224" y="1649852"/>
            <a:ext cx="11265552" cy="1104501"/>
          </a:xfrm>
          <a:prstGeom prst="rect">
            <a:avLst/>
          </a:prstGeom>
        </p:spPr>
        <p:txBody>
          <a:bodyPr anchor="t" rtlCol="false" tIns="0" lIns="0" bIns="0" rIns="0">
            <a:spAutoFit/>
          </a:bodyPr>
          <a:lstStyle/>
          <a:p>
            <a:pPr algn="ctr">
              <a:lnSpc>
                <a:spcPts val="8664"/>
              </a:lnSpc>
            </a:pPr>
            <a:r>
              <a:rPr lang="en-US" sz="7343" b="true">
                <a:solidFill>
                  <a:srgbClr val="6788C0"/>
                </a:solidFill>
                <a:latin typeface="Nexa Bold"/>
                <a:ea typeface="Nexa Bold"/>
                <a:cs typeface="Nexa Bold"/>
                <a:sym typeface="Nexa Bold"/>
              </a:rPr>
              <a:t>Introduction</a:t>
            </a:r>
          </a:p>
        </p:txBody>
      </p:sp>
      <p:sp>
        <p:nvSpPr>
          <p:cNvPr name="TextBox 11" id="11"/>
          <p:cNvSpPr txBox="true"/>
          <p:nvPr/>
        </p:nvSpPr>
        <p:spPr>
          <a:xfrm rot="0">
            <a:off x="5140660" y="4816988"/>
            <a:ext cx="9389695" cy="2876499"/>
          </a:xfrm>
          <a:prstGeom prst="rect">
            <a:avLst/>
          </a:prstGeom>
        </p:spPr>
        <p:txBody>
          <a:bodyPr anchor="t" rtlCol="false" tIns="0" lIns="0" bIns="0" rIns="0">
            <a:spAutoFit/>
          </a:bodyPr>
          <a:lstStyle/>
          <a:p>
            <a:pPr algn="ctr">
              <a:lnSpc>
                <a:spcPts val="3792"/>
              </a:lnSpc>
            </a:pPr>
            <a:r>
              <a:rPr lang="en-US" sz="2597">
                <a:solidFill>
                  <a:srgbClr val="6788C0"/>
                </a:solidFill>
                <a:latin typeface="Solomon Sans"/>
                <a:ea typeface="Solomon Sans"/>
                <a:cs typeface="Solomon Sans"/>
                <a:sym typeface="Solomon Sans"/>
              </a:rPr>
              <a:t>Web-enabled database applications form the backbone of modern internet services, combining web technologies with database management systems to deliver dynamic content and services. This presentation explores the architectural patterns, components, and best practices in designing such systems.</a:t>
            </a:r>
          </a:p>
        </p:txBody>
      </p:sp>
      <p:sp>
        <p:nvSpPr>
          <p:cNvPr name="Freeform 12" id="12"/>
          <p:cNvSpPr/>
          <p:nvPr/>
        </p:nvSpPr>
        <p:spPr>
          <a:xfrm flipH="false" flipV="false" rot="0">
            <a:off x="708393" y="3698708"/>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6365839" y="6385916"/>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6305435" cy="8229600"/>
            <a:chOff x="0" y="0"/>
            <a:chExt cx="1660691" cy="2167467"/>
          </a:xfrm>
        </p:grpSpPr>
        <p:sp>
          <p:nvSpPr>
            <p:cNvPr name="Freeform 3" id="3"/>
            <p:cNvSpPr/>
            <p:nvPr/>
          </p:nvSpPr>
          <p:spPr>
            <a:xfrm flipH="false" flipV="false" rot="0">
              <a:off x="0" y="0"/>
              <a:ext cx="1660691" cy="2167467"/>
            </a:xfrm>
            <a:custGeom>
              <a:avLst/>
              <a:gdLst/>
              <a:ahLst/>
              <a:cxnLst/>
              <a:rect r="r" b="b" t="t" l="l"/>
              <a:pathLst>
                <a:path h="2167467" w="1660691">
                  <a:moveTo>
                    <a:pt x="61391" y="0"/>
                  </a:moveTo>
                  <a:lnTo>
                    <a:pt x="1599300" y="0"/>
                  </a:lnTo>
                  <a:cubicBezTo>
                    <a:pt x="1633205" y="0"/>
                    <a:pt x="1660691" y="27486"/>
                    <a:pt x="1660691" y="61391"/>
                  </a:cubicBezTo>
                  <a:lnTo>
                    <a:pt x="1660691" y="2106076"/>
                  </a:lnTo>
                  <a:cubicBezTo>
                    <a:pt x="1660691" y="2139981"/>
                    <a:pt x="1633205" y="2167467"/>
                    <a:pt x="1599300" y="2167467"/>
                  </a:cubicBezTo>
                  <a:lnTo>
                    <a:pt x="61391" y="2167467"/>
                  </a:lnTo>
                  <a:cubicBezTo>
                    <a:pt x="27486" y="2167467"/>
                    <a:pt x="0" y="2139981"/>
                    <a:pt x="0" y="2106076"/>
                  </a:cubicBezTo>
                  <a:lnTo>
                    <a:pt x="0" y="61391"/>
                  </a:lnTo>
                  <a:cubicBezTo>
                    <a:pt x="0" y="27486"/>
                    <a:pt x="27486" y="0"/>
                    <a:pt x="61391" y="0"/>
                  </a:cubicBezTo>
                  <a:close/>
                </a:path>
              </a:pathLst>
            </a:custGeom>
            <a:gradFill rotWithShape="true">
              <a:gsLst>
                <a:gs pos="0">
                  <a:srgbClr val="537EBD">
                    <a:alpha val="100000"/>
                  </a:srgbClr>
                </a:gs>
                <a:gs pos="100000">
                  <a:srgbClr val="AEDDDF">
                    <a:alpha val="100000"/>
                  </a:srgbClr>
                </a:gs>
              </a:gsLst>
              <a:lin ang="5400000"/>
            </a:gradFill>
          </p:spPr>
        </p:sp>
        <p:sp>
          <p:nvSpPr>
            <p:cNvPr name="TextBox 4" id="4"/>
            <p:cNvSpPr txBox="true"/>
            <p:nvPr/>
          </p:nvSpPr>
          <p:spPr>
            <a:xfrm>
              <a:off x="0" y="-85725"/>
              <a:ext cx="1660691" cy="2253192"/>
            </a:xfrm>
            <a:prstGeom prst="rect">
              <a:avLst/>
            </a:prstGeom>
          </p:spPr>
          <p:txBody>
            <a:bodyPr anchor="ctr" rtlCol="false" tIns="50800" lIns="50800" bIns="50800" rIns="50800"/>
            <a:lstStyle/>
            <a:p>
              <a:pPr algn="ctr">
                <a:lnSpc>
                  <a:spcPts val="3562"/>
                </a:lnSpc>
              </a:pPr>
            </a:p>
          </p:txBody>
        </p:sp>
      </p:grpSp>
      <p:sp>
        <p:nvSpPr>
          <p:cNvPr name="Freeform 5" id="5"/>
          <p:cNvSpPr/>
          <p:nvPr/>
        </p:nvSpPr>
        <p:spPr>
          <a:xfrm flipH="false" flipV="false" rot="0">
            <a:off x="-1936813" y="-1808302"/>
            <a:ext cx="6847525" cy="6951802"/>
          </a:xfrm>
          <a:custGeom>
            <a:avLst/>
            <a:gdLst/>
            <a:ahLst/>
            <a:cxnLst/>
            <a:rect r="r" b="b" t="t" l="l"/>
            <a:pathLst>
              <a:path h="6951802" w="6847525">
                <a:moveTo>
                  <a:pt x="0" y="0"/>
                </a:moveTo>
                <a:lnTo>
                  <a:pt x="6847525" y="0"/>
                </a:lnTo>
                <a:lnTo>
                  <a:pt x="6847525" y="6951802"/>
                </a:lnTo>
                <a:lnTo>
                  <a:pt x="0" y="6951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387311" y="4306423"/>
            <a:ext cx="818551" cy="592147"/>
            <a:chOff x="0" y="0"/>
            <a:chExt cx="215586" cy="155956"/>
          </a:xfrm>
        </p:grpSpPr>
        <p:sp>
          <p:nvSpPr>
            <p:cNvPr name="Freeform 7" id="7"/>
            <p:cNvSpPr/>
            <p:nvPr/>
          </p:nvSpPr>
          <p:spPr>
            <a:xfrm flipH="false" flipV="false" rot="0">
              <a:off x="0" y="0"/>
              <a:ext cx="215586" cy="155956"/>
            </a:xfrm>
            <a:custGeom>
              <a:avLst/>
              <a:gdLst/>
              <a:ahLst/>
              <a:cxnLst/>
              <a:rect r="r" b="b" t="t" l="l"/>
              <a:pathLst>
                <a:path h="155956" w="215586">
                  <a:moveTo>
                    <a:pt x="77978" y="0"/>
                  </a:moveTo>
                  <a:lnTo>
                    <a:pt x="137607" y="0"/>
                  </a:lnTo>
                  <a:cubicBezTo>
                    <a:pt x="158288" y="0"/>
                    <a:pt x="178122" y="8216"/>
                    <a:pt x="192746" y="22839"/>
                  </a:cubicBezTo>
                  <a:cubicBezTo>
                    <a:pt x="207370" y="37463"/>
                    <a:pt x="215586" y="57297"/>
                    <a:pt x="215586" y="77978"/>
                  </a:cubicBezTo>
                  <a:lnTo>
                    <a:pt x="215586" y="77978"/>
                  </a:lnTo>
                  <a:cubicBezTo>
                    <a:pt x="215586" y="121044"/>
                    <a:pt x="180674" y="155956"/>
                    <a:pt x="137607" y="155956"/>
                  </a:cubicBezTo>
                  <a:lnTo>
                    <a:pt x="77978" y="155956"/>
                  </a:lnTo>
                  <a:cubicBezTo>
                    <a:pt x="57297" y="155956"/>
                    <a:pt x="37463" y="147741"/>
                    <a:pt x="22839" y="133117"/>
                  </a:cubicBezTo>
                  <a:cubicBezTo>
                    <a:pt x="8216" y="118493"/>
                    <a:pt x="0" y="98659"/>
                    <a:pt x="0" y="77978"/>
                  </a:cubicBezTo>
                  <a:lnTo>
                    <a:pt x="0" y="77978"/>
                  </a:lnTo>
                  <a:cubicBezTo>
                    <a:pt x="0" y="57297"/>
                    <a:pt x="8216" y="37463"/>
                    <a:pt x="22839" y="22839"/>
                  </a:cubicBezTo>
                  <a:cubicBezTo>
                    <a:pt x="37463" y="8216"/>
                    <a:pt x="57297" y="0"/>
                    <a:pt x="77978" y="0"/>
                  </a:cubicBezTo>
                  <a:close/>
                </a:path>
              </a:pathLst>
            </a:custGeom>
            <a:gradFill rotWithShape="true">
              <a:gsLst>
                <a:gs pos="0">
                  <a:srgbClr val="537EBD">
                    <a:alpha val="100000"/>
                  </a:srgbClr>
                </a:gs>
                <a:gs pos="100000">
                  <a:srgbClr val="AEDDDF">
                    <a:alpha val="100000"/>
                  </a:srgbClr>
                </a:gs>
              </a:gsLst>
              <a:lin ang="5400000"/>
            </a:gradFill>
          </p:spPr>
        </p:sp>
        <p:sp>
          <p:nvSpPr>
            <p:cNvPr name="TextBox 8" id="8"/>
            <p:cNvSpPr txBox="true"/>
            <p:nvPr/>
          </p:nvSpPr>
          <p:spPr>
            <a:xfrm>
              <a:off x="0" y="-85725"/>
              <a:ext cx="215586" cy="241681"/>
            </a:xfrm>
            <a:prstGeom prst="rect">
              <a:avLst/>
            </a:prstGeom>
          </p:spPr>
          <p:txBody>
            <a:bodyPr anchor="ctr" rtlCol="false" tIns="50800" lIns="50800" bIns="50800" rIns="50800"/>
            <a:lstStyle/>
            <a:p>
              <a:pPr algn="ctr">
                <a:lnSpc>
                  <a:spcPts val="3562"/>
                </a:lnSpc>
              </a:pPr>
            </a:p>
          </p:txBody>
        </p:sp>
      </p:grpSp>
      <p:grpSp>
        <p:nvGrpSpPr>
          <p:cNvPr name="Group 9" id="9"/>
          <p:cNvGrpSpPr/>
          <p:nvPr/>
        </p:nvGrpSpPr>
        <p:grpSpPr>
          <a:xfrm rot="0">
            <a:off x="8387311" y="5876854"/>
            <a:ext cx="818551" cy="592147"/>
            <a:chOff x="0" y="0"/>
            <a:chExt cx="215586" cy="155956"/>
          </a:xfrm>
        </p:grpSpPr>
        <p:sp>
          <p:nvSpPr>
            <p:cNvPr name="Freeform 10" id="10"/>
            <p:cNvSpPr/>
            <p:nvPr/>
          </p:nvSpPr>
          <p:spPr>
            <a:xfrm flipH="false" flipV="false" rot="0">
              <a:off x="0" y="0"/>
              <a:ext cx="215586" cy="155956"/>
            </a:xfrm>
            <a:custGeom>
              <a:avLst/>
              <a:gdLst/>
              <a:ahLst/>
              <a:cxnLst/>
              <a:rect r="r" b="b" t="t" l="l"/>
              <a:pathLst>
                <a:path h="155956" w="215586">
                  <a:moveTo>
                    <a:pt x="77978" y="0"/>
                  </a:moveTo>
                  <a:lnTo>
                    <a:pt x="137607" y="0"/>
                  </a:lnTo>
                  <a:cubicBezTo>
                    <a:pt x="158288" y="0"/>
                    <a:pt x="178122" y="8216"/>
                    <a:pt x="192746" y="22839"/>
                  </a:cubicBezTo>
                  <a:cubicBezTo>
                    <a:pt x="207370" y="37463"/>
                    <a:pt x="215586" y="57297"/>
                    <a:pt x="215586" y="77978"/>
                  </a:cubicBezTo>
                  <a:lnTo>
                    <a:pt x="215586" y="77978"/>
                  </a:lnTo>
                  <a:cubicBezTo>
                    <a:pt x="215586" y="121044"/>
                    <a:pt x="180674" y="155956"/>
                    <a:pt x="137607" y="155956"/>
                  </a:cubicBezTo>
                  <a:lnTo>
                    <a:pt x="77978" y="155956"/>
                  </a:lnTo>
                  <a:cubicBezTo>
                    <a:pt x="57297" y="155956"/>
                    <a:pt x="37463" y="147741"/>
                    <a:pt x="22839" y="133117"/>
                  </a:cubicBezTo>
                  <a:cubicBezTo>
                    <a:pt x="8216" y="118493"/>
                    <a:pt x="0" y="98659"/>
                    <a:pt x="0" y="77978"/>
                  </a:cubicBezTo>
                  <a:lnTo>
                    <a:pt x="0" y="77978"/>
                  </a:lnTo>
                  <a:cubicBezTo>
                    <a:pt x="0" y="57297"/>
                    <a:pt x="8216" y="37463"/>
                    <a:pt x="22839" y="22839"/>
                  </a:cubicBezTo>
                  <a:cubicBezTo>
                    <a:pt x="37463" y="8216"/>
                    <a:pt x="57297" y="0"/>
                    <a:pt x="77978" y="0"/>
                  </a:cubicBezTo>
                  <a:close/>
                </a:path>
              </a:pathLst>
            </a:custGeom>
            <a:gradFill rotWithShape="true">
              <a:gsLst>
                <a:gs pos="0">
                  <a:srgbClr val="537EBD">
                    <a:alpha val="100000"/>
                  </a:srgbClr>
                </a:gs>
                <a:gs pos="100000">
                  <a:srgbClr val="AEDDDF">
                    <a:alpha val="100000"/>
                  </a:srgbClr>
                </a:gs>
              </a:gsLst>
              <a:lin ang="5400000"/>
            </a:gradFill>
          </p:spPr>
        </p:sp>
        <p:sp>
          <p:nvSpPr>
            <p:cNvPr name="TextBox 11" id="11"/>
            <p:cNvSpPr txBox="true"/>
            <p:nvPr/>
          </p:nvSpPr>
          <p:spPr>
            <a:xfrm>
              <a:off x="0" y="-85725"/>
              <a:ext cx="215586" cy="241681"/>
            </a:xfrm>
            <a:prstGeom prst="rect">
              <a:avLst/>
            </a:prstGeom>
          </p:spPr>
          <p:txBody>
            <a:bodyPr anchor="ctr" rtlCol="false" tIns="50800" lIns="50800" bIns="50800" rIns="50800"/>
            <a:lstStyle/>
            <a:p>
              <a:pPr algn="ctr">
                <a:lnSpc>
                  <a:spcPts val="3562"/>
                </a:lnSpc>
              </a:pPr>
            </a:p>
          </p:txBody>
        </p:sp>
      </p:grpSp>
      <p:grpSp>
        <p:nvGrpSpPr>
          <p:cNvPr name="Group 12" id="12"/>
          <p:cNvGrpSpPr/>
          <p:nvPr/>
        </p:nvGrpSpPr>
        <p:grpSpPr>
          <a:xfrm rot="0">
            <a:off x="8387311" y="7584823"/>
            <a:ext cx="818551" cy="592147"/>
            <a:chOff x="0" y="0"/>
            <a:chExt cx="215586" cy="155956"/>
          </a:xfrm>
        </p:grpSpPr>
        <p:sp>
          <p:nvSpPr>
            <p:cNvPr name="Freeform 13" id="13"/>
            <p:cNvSpPr/>
            <p:nvPr/>
          </p:nvSpPr>
          <p:spPr>
            <a:xfrm flipH="false" flipV="false" rot="0">
              <a:off x="0" y="0"/>
              <a:ext cx="215586" cy="155956"/>
            </a:xfrm>
            <a:custGeom>
              <a:avLst/>
              <a:gdLst/>
              <a:ahLst/>
              <a:cxnLst/>
              <a:rect r="r" b="b" t="t" l="l"/>
              <a:pathLst>
                <a:path h="155956" w="215586">
                  <a:moveTo>
                    <a:pt x="77978" y="0"/>
                  </a:moveTo>
                  <a:lnTo>
                    <a:pt x="137607" y="0"/>
                  </a:lnTo>
                  <a:cubicBezTo>
                    <a:pt x="158288" y="0"/>
                    <a:pt x="178122" y="8216"/>
                    <a:pt x="192746" y="22839"/>
                  </a:cubicBezTo>
                  <a:cubicBezTo>
                    <a:pt x="207370" y="37463"/>
                    <a:pt x="215586" y="57297"/>
                    <a:pt x="215586" y="77978"/>
                  </a:cubicBezTo>
                  <a:lnTo>
                    <a:pt x="215586" y="77978"/>
                  </a:lnTo>
                  <a:cubicBezTo>
                    <a:pt x="215586" y="121044"/>
                    <a:pt x="180674" y="155956"/>
                    <a:pt x="137607" y="155956"/>
                  </a:cubicBezTo>
                  <a:lnTo>
                    <a:pt x="77978" y="155956"/>
                  </a:lnTo>
                  <a:cubicBezTo>
                    <a:pt x="57297" y="155956"/>
                    <a:pt x="37463" y="147741"/>
                    <a:pt x="22839" y="133117"/>
                  </a:cubicBezTo>
                  <a:cubicBezTo>
                    <a:pt x="8216" y="118493"/>
                    <a:pt x="0" y="98659"/>
                    <a:pt x="0" y="77978"/>
                  </a:cubicBezTo>
                  <a:lnTo>
                    <a:pt x="0" y="77978"/>
                  </a:lnTo>
                  <a:cubicBezTo>
                    <a:pt x="0" y="57297"/>
                    <a:pt x="8216" y="37463"/>
                    <a:pt x="22839" y="22839"/>
                  </a:cubicBezTo>
                  <a:cubicBezTo>
                    <a:pt x="37463" y="8216"/>
                    <a:pt x="57297" y="0"/>
                    <a:pt x="77978" y="0"/>
                  </a:cubicBezTo>
                  <a:close/>
                </a:path>
              </a:pathLst>
            </a:custGeom>
            <a:gradFill rotWithShape="true">
              <a:gsLst>
                <a:gs pos="0">
                  <a:srgbClr val="537EBD">
                    <a:alpha val="100000"/>
                  </a:srgbClr>
                </a:gs>
                <a:gs pos="100000">
                  <a:srgbClr val="AEDDDF">
                    <a:alpha val="100000"/>
                  </a:srgbClr>
                </a:gs>
              </a:gsLst>
              <a:lin ang="5400000"/>
            </a:gradFill>
          </p:spPr>
        </p:sp>
        <p:sp>
          <p:nvSpPr>
            <p:cNvPr name="TextBox 14" id="14"/>
            <p:cNvSpPr txBox="true"/>
            <p:nvPr/>
          </p:nvSpPr>
          <p:spPr>
            <a:xfrm>
              <a:off x="0" y="-85725"/>
              <a:ext cx="215586" cy="241681"/>
            </a:xfrm>
            <a:prstGeom prst="rect">
              <a:avLst/>
            </a:prstGeom>
          </p:spPr>
          <p:txBody>
            <a:bodyPr anchor="ctr" rtlCol="false" tIns="50800" lIns="50800" bIns="50800" rIns="50800"/>
            <a:lstStyle/>
            <a:p>
              <a:pPr algn="ctr">
                <a:lnSpc>
                  <a:spcPts val="3562"/>
                </a:lnSpc>
              </a:pPr>
            </a:p>
          </p:txBody>
        </p:sp>
      </p:grpSp>
      <p:sp>
        <p:nvSpPr>
          <p:cNvPr name="TextBox 15" id="15"/>
          <p:cNvSpPr txBox="true"/>
          <p:nvPr/>
        </p:nvSpPr>
        <p:spPr>
          <a:xfrm rot="0">
            <a:off x="8387311" y="1415286"/>
            <a:ext cx="8006366" cy="1921256"/>
          </a:xfrm>
          <a:prstGeom prst="rect">
            <a:avLst/>
          </a:prstGeom>
        </p:spPr>
        <p:txBody>
          <a:bodyPr anchor="t" rtlCol="false" tIns="0" lIns="0" bIns="0" rIns="0">
            <a:spAutoFit/>
          </a:bodyPr>
          <a:lstStyle/>
          <a:p>
            <a:pPr algn="l">
              <a:lnSpc>
                <a:spcPts val="7552"/>
              </a:lnSpc>
            </a:pPr>
            <a:r>
              <a:rPr lang="en-US" sz="6400" b="true">
                <a:solidFill>
                  <a:srgbClr val="6788C0"/>
                </a:solidFill>
                <a:latin typeface="Nexa Bold"/>
                <a:ea typeface="Nexa Bold"/>
                <a:cs typeface="Nexa Bold"/>
                <a:sym typeface="Nexa Bold"/>
              </a:rPr>
              <a:t>Core Architectural Components</a:t>
            </a:r>
          </a:p>
        </p:txBody>
      </p:sp>
      <p:sp>
        <p:nvSpPr>
          <p:cNvPr name="TextBox 16" id="16"/>
          <p:cNvSpPr txBox="true"/>
          <p:nvPr/>
        </p:nvSpPr>
        <p:spPr>
          <a:xfrm rot="0">
            <a:off x="8387311" y="4442667"/>
            <a:ext cx="759749" cy="319640"/>
          </a:xfrm>
          <a:prstGeom prst="rect">
            <a:avLst/>
          </a:prstGeom>
        </p:spPr>
        <p:txBody>
          <a:bodyPr anchor="t" rtlCol="false" tIns="0" lIns="0" bIns="0" rIns="0">
            <a:spAutoFit/>
          </a:bodyPr>
          <a:lstStyle/>
          <a:p>
            <a:pPr algn="ctr">
              <a:lnSpc>
                <a:spcPts val="2477"/>
              </a:lnSpc>
            </a:pPr>
            <a:r>
              <a:rPr lang="en-US" sz="2100" b="true">
                <a:solidFill>
                  <a:srgbClr val="FFFFFF"/>
                </a:solidFill>
                <a:latin typeface="Nexa Bold"/>
                <a:ea typeface="Nexa Bold"/>
                <a:cs typeface="Nexa Bold"/>
                <a:sym typeface="Nexa Bold"/>
              </a:rPr>
              <a:t>01</a:t>
            </a:r>
          </a:p>
        </p:txBody>
      </p:sp>
      <p:sp>
        <p:nvSpPr>
          <p:cNvPr name="TextBox 17" id="17"/>
          <p:cNvSpPr txBox="true"/>
          <p:nvPr/>
        </p:nvSpPr>
        <p:spPr>
          <a:xfrm rot="0">
            <a:off x="8387311" y="6013098"/>
            <a:ext cx="759749" cy="319640"/>
          </a:xfrm>
          <a:prstGeom prst="rect">
            <a:avLst/>
          </a:prstGeom>
        </p:spPr>
        <p:txBody>
          <a:bodyPr anchor="t" rtlCol="false" tIns="0" lIns="0" bIns="0" rIns="0">
            <a:spAutoFit/>
          </a:bodyPr>
          <a:lstStyle/>
          <a:p>
            <a:pPr algn="ctr">
              <a:lnSpc>
                <a:spcPts val="2477"/>
              </a:lnSpc>
            </a:pPr>
            <a:r>
              <a:rPr lang="en-US" sz="2100" b="true">
                <a:solidFill>
                  <a:srgbClr val="FFFFFF"/>
                </a:solidFill>
                <a:latin typeface="Nexa Bold"/>
                <a:ea typeface="Nexa Bold"/>
                <a:cs typeface="Nexa Bold"/>
                <a:sym typeface="Nexa Bold"/>
              </a:rPr>
              <a:t>02</a:t>
            </a:r>
          </a:p>
        </p:txBody>
      </p:sp>
      <p:sp>
        <p:nvSpPr>
          <p:cNvPr name="TextBox 18" id="18"/>
          <p:cNvSpPr txBox="true"/>
          <p:nvPr/>
        </p:nvSpPr>
        <p:spPr>
          <a:xfrm rot="0">
            <a:off x="8387311" y="7721067"/>
            <a:ext cx="759749" cy="319640"/>
          </a:xfrm>
          <a:prstGeom prst="rect">
            <a:avLst/>
          </a:prstGeom>
        </p:spPr>
        <p:txBody>
          <a:bodyPr anchor="t" rtlCol="false" tIns="0" lIns="0" bIns="0" rIns="0">
            <a:spAutoFit/>
          </a:bodyPr>
          <a:lstStyle/>
          <a:p>
            <a:pPr algn="ctr">
              <a:lnSpc>
                <a:spcPts val="2477"/>
              </a:lnSpc>
            </a:pPr>
            <a:r>
              <a:rPr lang="en-US" sz="2100" b="true">
                <a:solidFill>
                  <a:srgbClr val="FFFFFF"/>
                </a:solidFill>
                <a:latin typeface="Nexa Bold"/>
                <a:ea typeface="Nexa Bold"/>
                <a:cs typeface="Nexa Bold"/>
                <a:sym typeface="Nexa Bold"/>
              </a:rPr>
              <a:t>03</a:t>
            </a:r>
          </a:p>
        </p:txBody>
      </p:sp>
      <p:grpSp>
        <p:nvGrpSpPr>
          <p:cNvPr name="Group 19" id="19"/>
          <p:cNvGrpSpPr/>
          <p:nvPr/>
        </p:nvGrpSpPr>
        <p:grpSpPr>
          <a:xfrm rot="0">
            <a:off x="9256502" y="4325473"/>
            <a:ext cx="9515178" cy="8749542"/>
            <a:chOff x="0" y="0"/>
            <a:chExt cx="12686904" cy="11666055"/>
          </a:xfrm>
        </p:grpSpPr>
        <p:sp>
          <p:nvSpPr>
            <p:cNvPr name="Freeform 20" id="20"/>
            <p:cNvSpPr/>
            <p:nvPr/>
          </p:nvSpPr>
          <p:spPr>
            <a:xfrm flipH="false" flipV="false" rot="0">
              <a:off x="2941344" y="1772085"/>
              <a:ext cx="9745561" cy="9893970"/>
            </a:xfrm>
            <a:custGeom>
              <a:avLst/>
              <a:gdLst/>
              <a:ahLst/>
              <a:cxnLst/>
              <a:rect r="r" b="b" t="t" l="l"/>
              <a:pathLst>
                <a:path h="9893970" w="9745561">
                  <a:moveTo>
                    <a:pt x="0" y="0"/>
                  </a:moveTo>
                  <a:lnTo>
                    <a:pt x="9745560" y="0"/>
                  </a:lnTo>
                  <a:lnTo>
                    <a:pt x="9745560" y="9893970"/>
                  </a:lnTo>
                  <a:lnTo>
                    <a:pt x="0" y="9893970"/>
                  </a:lnTo>
                  <a:lnTo>
                    <a:pt x="0" y="0"/>
                  </a:lnTo>
                  <a:close/>
                </a:path>
              </a:pathLst>
            </a:custGeom>
            <a:blipFill>
              <a:blip r:embed="rId4">
                <a:alphaModFix amt="6999"/>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203200" y="0"/>
              <a:ext cx="7619482" cy="426212"/>
            </a:xfrm>
            <a:prstGeom prst="rect">
              <a:avLst/>
            </a:prstGeom>
          </p:spPr>
          <p:txBody>
            <a:bodyPr anchor="t" rtlCol="false" tIns="0" lIns="0" bIns="0" rIns="0">
              <a:spAutoFit/>
            </a:bodyPr>
            <a:lstStyle/>
            <a:p>
              <a:pPr algn="l">
                <a:lnSpc>
                  <a:spcPts val="2477"/>
                </a:lnSpc>
              </a:pPr>
              <a:r>
                <a:rPr lang="en-US" sz="2100" b="true">
                  <a:solidFill>
                    <a:srgbClr val="6788C0"/>
                  </a:solidFill>
                  <a:latin typeface="Nexa Bold"/>
                  <a:ea typeface="Nexa Bold"/>
                  <a:cs typeface="Nexa Bold"/>
                  <a:sym typeface="Nexa Bold"/>
                </a:rPr>
                <a:t>Presentation Layer (Frontend)</a:t>
              </a:r>
            </a:p>
          </p:txBody>
        </p:sp>
        <p:sp>
          <p:nvSpPr>
            <p:cNvPr name="TextBox 22" id="22"/>
            <p:cNvSpPr txBox="true"/>
            <p:nvPr/>
          </p:nvSpPr>
          <p:spPr>
            <a:xfrm rot="0">
              <a:off x="0" y="531671"/>
              <a:ext cx="8447681" cy="1580557"/>
            </a:xfrm>
            <a:prstGeom prst="rect">
              <a:avLst/>
            </a:prstGeom>
          </p:spPr>
          <p:txBody>
            <a:bodyPr anchor="t" rtlCol="false" tIns="0" lIns="0" bIns="0" rIns="0">
              <a:spAutoFit/>
            </a:bodyPr>
            <a:lstStyle/>
            <a:p>
              <a:pPr algn="l" marL="345439" indent="-172720" lvl="1">
                <a:lnSpc>
                  <a:spcPts val="2335"/>
                </a:lnSpc>
                <a:buFont typeface="Arial"/>
                <a:buChar char="•"/>
              </a:pPr>
              <a:r>
                <a:rPr lang="en-US" sz="1599">
                  <a:solidFill>
                    <a:srgbClr val="6788C0"/>
                  </a:solidFill>
                  <a:latin typeface="Solomon Sans"/>
                  <a:ea typeface="Solomon Sans"/>
                  <a:cs typeface="Solomon Sans"/>
                  <a:sym typeface="Solomon Sans"/>
                </a:rPr>
                <a:t>HTML5, CSS3, JavaScript frameworks,User interface components</a:t>
              </a:r>
            </a:p>
            <a:p>
              <a:pPr algn="l" marL="345439" indent="-172720" lvl="1">
                <a:lnSpc>
                  <a:spcPts val="2335"/>
                </a:lnSpc>
                <a:buFont typeface="Arial"/>
                <a:buChar char="•"/>
              </a:pPr>
              <a:r>
                <a:rPr lang="en-US" sz="1599">
                  <a:solidFill>
                    <a:srgbClr val="6788C0"/>
                  </a:solidFill>
                  <a:latin typeface="Solomon Sans"/>
                  <a:ea typeface="Solomon Sans"/>
                  <a:cs typeface="Solomon Sans"/>
                  <a:sym typeface="Solomon Sans"/>
                </a:rPr>
                <a:t>Responsive design principles</a:t>
              </a:r>
            </a:p>
            <a:p>
              <a:pPr algn="l">
                <a:lnSpc>
                  <a:spcPts val="2335"/>
                </a:lnSpc>
              </a:pPr>
            </a:p>
          </p:txBody>
        </p:sp>
        <p:sp>
          <p:nvSpPr>
            <p:cNvPr name="TextBox 23" id="23"/>
            <p:cNvSpPr txBox="true"/>
            <p:nvPr/>
          </p:nvSpPr>
          <p:spPr>
            <a:xfrm rot="0">
              <a:off x="152400" y="2074128"/>
              <a:ext cx="7619482" cy="426212"/>
            </a:xfrm>
            <a:prstGeom prst="rect">
              <a:avLst/>
            </a:prstGeom>
          </p:spPr>
          <p:txBody>
            <a:bodyPr anchor="t" rtlCol="false" tIns="0" lIns="0" bIns="0" rIns="0">
              <a:spAutoFit/>
            </a:bodyPr>
            <a:lstStyle/>
            <a:p>
              <a:pPr algn="l">
                <a:lnSpc>
                  <a:spcPts val="2477"/>
                </a:lnSpc>
              </a:pPr>
              <a:r>
                <a:rPr lang="en-US" sz="2100" b="true">
                  <a:solidFill>
                    <a:srgbClr val="6788C0"/>
                  </a:solidFill>
                  <a:latin typeface="Nexa Bold"/>
                  <a:ea typeface="Nexa Bold"/>
                  <a:cs typeface="Nexa Bold"/>
                  <a:sym typeface="Nexa Bold"/>
                </a:rPr>
                <a:t>Application Layer (Backend)</a:t>
              </a:r>
            </a:p>
          </p:txBody>
        </p:sp>
        <p:sp>
          <p:nvSpPr>
            <p:cNvPr name="TextBox 24" id="24"/>
            <p:cNvSpPr txBox="true"/>
            <p:nvPr/>
          </p:nvSpPr>
          <p:spPr>
            <a:xfrm rot="0">
              <a:off x="0" y="2643899"/>
              <a:ext cx="8447681" cy="1580557"/>
            </a:xfrm>
            <a:prstGeom prst="rect">
              <a:avLst/>
            </a:prstGeom>
          </p:spPr>
          <p:txBody>
            <a:bodyPr anchor="t" rtlCol="false" tIns="0" lIns="0" bIns="0" rIns="0">
              <a:spAutoFit/>
            </a:bodyPr>
            <a:lstStyle/>
            <a:p>
              <a:pPr algn="l" marL="345439" indent="-172720" lvl="1">
                <a:lnSpc>
                  <a:spcPts val="2335"/>
                </a:lnSpc>
                <a:buFont typeface="Arial"/>
                <a:buChar char="•"/>
              </a:pPr>
              <a:r>
                <a:rPr lang="en-US" sz="1599">
                  <a:solidFill>
                    <a:srgbClr val="6788C0"/>
                  </a:solidFill>
                  <a:latin typeface="Solomon Sans"/>
                  <a:ea typeface="Solomon Sans"/>
                  <a:cs typeface="Solomon Sans"/>
                  <a:sym typeface="Solomon Sans"/>
                </a:rPr>
                <a:t>Web server architecture</a:t>
              </a:r>
            </a:p>
            <a:p>
              <a:pPr algn="l" marL="345439" indent="-172720" lvl="1">
                <a:lnSpc>
                  <a:spcPts val="2335"/>
                </a:lnSpc>
                <a:buFont typeface="Arial"/>
                <a:buChar char="•"/>
              </a:pPr>
              <a:r>
                <a:rPr lang="en-US" sz="1599">
                  <a:solidFill>
                    <a:srgbClr val="6788C0"/>
                  </a:solidFill>
                  <a:latin typeface="Solomon Sans"/>
                  <a:ea typeface="Solomon Sans"/>
                  <a:cs typeface="Solomon Sans"/>
                  <a:sym typeface="Solomon Sans"/>
                </a:rPr>
                <a:t>Application server functionality</a:t>
              </a:r>
            </a:p>
            <a:p>
              <a:pPr algn="l" marL="345439" indent="-172720" lvl="1">
                <a:lnSpc>
                  <a:spcPts val="2335"/>
                </a:lnSpc>
                <a:buFont typeface="Arial"/>
                <a:buChar char="•"/>
              </a:pPr>
              <a:r>
                <a:rPr lang="en-US" sz="1599">
                  <a:solidFill>
                    <a:srgbClr val="6788C0"/>
                  </a:solidFill>
                  <a:latin typeface="Solomon Sans"/>
                  <a:ea typeface="Solomon Sans"/>
                  <a:cs typeface="Solomon Sans"/>
                  <a:sym typeface="Solomon Sans"/>
                </a:rPr>
                <a:t>API design and management</a:t>
              </a:r>
            </a:p>
            <a:p>
              <a:pPr algn="l">
                <a:lnSpc>
                  <a:spcPts val="2335"/>
                </a:lnSpc>
              </a:pPr>
            </a:p>
          </p:txBody>
        </p:sp>
        <p:sp>
          <p:nvSpPr>
            <p:cNvPr name="TextBox 25" id="25"/>
            <p:cNvSpPr txBox="true"/>
            <p:nvPr/>
          </p:nvSpPr>
          <p:spPr>
            <a:xfrm rot="0">
              <a:off x="190500" y="4334861"/>
              <a:ext cx="7619482" cy="426212"/>
            </a:xfrm>
            <a:prstGeom prst="rect">
              <a:avLst/>
            </a:prstGeom>
          </p:spPr>
          <p:txBody>
            <a:bodyPr anchor="t" rtlCol="false" tIns="0" lIns="0" bIns="0" rIns="0">
              <a:spAutoFit/>
            </a:bodyPr>
            <a:lstStyle/>
            <a:p>
              <a:pPr algn="l">
                <a:lnSpc>
                  <a:spcPts val="2477"/>
                </a:lnSpc>
              </a:pPr>
              <a:r>
                <a:rPr lang="en-US" sz="2100" b="true">
                  <a:solidFill>
                    <a:srgbClr val="6788C0"/>
                  </a:solidFill>
                  <a:latin typeface="Nexa Bold"/>
                  <a:ea typeface="Nexa Bold"/>
                  <a:cs typeface="Nexa Bold"/>
                  <a:sym typeface="Nexa Bold"/>
                </a:rPr>
                <a:t>Database Layer</a:t>
              </a:r>
            </a:p>
          </p:txBody>
        </p:sp>
        <p:sp>
          <p:nvSpPr>
            <p:cNvPr name="TextBox 26" id="26"/>
            <p:cNvSpPr txBox="true"/>
            <p:nvPr/>
          </p:nvSpPr>
          <p:spPr>
            <a:xfrm rot="0">
              <a:off x="0" y="4866532"/>
              <a:ext cx="8447681" cy="1186857"/>
            </a:xfrm>
            <a:prstGeom prst="rect">
              <a:avLst/>
            </a:prstGeom>
          </p:spPr>
          <p:txBody>
            <a:bodyPr anchor="t" rtlCol="false" tIns="0" lIns="0" bIns="0" rIns="0">
              <a:spAutoFit/>
            </a:bodyPr>
            <a:lstStyle/>
            <a:p>
              <a:pPr algn="l" marL="345439" indent="-172720" lvl="1">
                <a:lnSpc>
                  <a:spcPts val="2335"/>
                </a:lnSpc>
                <a:buFont typeface="Arial"/>
                <a:buChar char="•"/>
              </a:pPr>
              <a:r>
                <a:rPr lang="en-US" sz="1599">
                  <a:solidFill>
                    <a:srgbClr val="6788C0"/>
                  </a:solidFill>
                  <a:latin typeface="Solomon Sans"/>
                  <a:ea typeface="Solomon Sans"/>
                  <a:cs typeface="Solomon Sans"/>
                  <a:sym typeface="Solomon Sans"/>
                </a:rPr>
                <a:t>Database management systems</a:t>
              </a:r>
            </a:p>
            <a:p>
              <a:pPr algn="l" marL="345439" indent="-172720" lvl="1">
                <a:lnSpc>
                  <a:spcPts val="2335"/>
                </a:lnSpc>
                <a:buFont typeface="Arial"/>
                <a:buChar char="•"/>
              </a:pPr>
              <a:r>
                <a:rPr lang="en-US" sz="1599">
                  <a:solidFill>
                    <a:srgbClr val="6788C0"/>
                  </a:solidFill>
                  <a:latin typeface="Solomon Sans"/>
                  <a:ea typeface="Solomon Sans"/>
                  <a:cs typeface="Solomon Sans"/>
                  <a:sym typeface="Solomon Sans"/>
                </a:rPr>
                <a:t>Data modeling and schema design</a:t>
              </a:r>
            </a:p>
            <a:p>
              <a:pPr algn="l">
                <a:lnSpc>
                  <a:spcPts val="2335"/>
                </a:lnSpc>
              </a:pPr>
            </a:p>
          </p:txBody>
        </p:sp>
      </p:grpSp>
      <p:sp>
        <p:nvSpPr>
          <p:cNvPr name="Freeform 27" id="27"/>
          <p:cNvSpPr/>
          <p:nvPr/>
        </p:nvSpPr>
        <p:spPr>
          <a:xfrm flipH="false" flipV="false" rot="0">
            <a:off x="2783923" y="3826377"/>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16643010" y="8645092"/>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452547"/>
            <a:ext cx="18288000" cy="4834453"/>
            <a:chOff x="0" y="0"/>
            <a:chExt cx="4816593" cy="1273272"/>
          </a:xfrm>
        </p:grpSpPr>
        <p:sp>
          <p:nvSpPr>
            <p:cNvPr name="Freeform 3" id="3"/>
            <p:cNvSpPr/>
            <p:nvPr/>
          </p:nvSpPr>
          <p:spPr>
            <a:xfrm flipH="false" flipV="false" rot="0">
              <a:off x="0" y="0"/>
              <a:ext cx="4816592" cy="1273272"/>
            </a:xfrm>
            <a:custGeom>
              <a:avLst/>
              <a:gdLst/>
              <a:ahLst/>
              <a:cxnLst/>
              <a:rect r="r" b="b" t="t" l="l"/>
              <a:pathLst>
                <a:path h="1273272" w="4816592">
                  <a:moveTo>
                    <a:pt x="0" y="0"/>
                  </a:moveTo>
                  <a:lnTo>
                    <a:pt x="4816592" y="0"/>
                  </a:lnTo>
                  <a:lnTo>
                    <a:pt x="4816592" y="1273272"/>
                  </a:lnTo>
                  <a:lnTo>
                    <a:pt x="0" y="1273272"/>
                  </a:lnTo>
                  <a:close/>
                </a:path>
              </a:pathLst>
            </a:custGeom>
            <a:gradFill rotWithShape="true">
              <a:gsLst>
                <a:gs pos="0">
                  <a:srgbClr val="537EBD">
                    <a:alpha val="100000"/>
                  </a:srgbClr>
                </a:gs>
                <a:gs pos="100000">
                  <a:srgbClr val="AEDDDF">
                    <a:alpha val="100000"/>
                  </a:srgbClr>
                </a:gs>
              </a:gsLst>
              <a:lin ang="5400000"/>
            </a:gradFill>
          </p:spPr>
        </p:sp>
        <p:sp>
          <p:nvSpPr>
            <p:cNvPr name="TextBox 4" id="4"/>
            <p:cNvSpPr txBox="true"/>
            <p:nvPr/>
          </p:nvSpPr>
          <p:spPr>
            <a:xfrm>
              <a:off x="0" y="-85725"/>
              <a:ext cx="4816593" cy="1358997"/>
            </a:xfrm>
            <a:prstGeom prst="rect">
              <a:avLst/>
            </a:prstGeom>
          </p:spPr>
          <p:txBody>
            <a:bodyPr anchor="ctr" rtlCol="false" tIns="50800" lIns="50800" bIns="50800" rIns="50800"/>
            <a:lstStyle/>
            <a:p>
              <a:pPr algn="ctr">
                <a:lnSpc>
                  <a:spcPts val="3562"/>
                </a:lnSpc>
              </a:pPr>
            </a:p>
          </p:txBody>
        </p:sp>
      </p:grpSp>
      <p:sp>
        <p:nvSpPr>
          <p:cNvPr name="Freeform 5" id="5"/>
          <p:cNvSpPr/>
          <p:nvPr/>
        </p:nvSpPr>
        <p:spPr>
          <a:xfrm flipH="false" flipV="false" rot="0">
            <a:off x="12711554" y="6670708"/>
            <a:ext cx="6847525" cy="6951802"/>
          </a:xfrm>
          <a:custGeom>
            <a:avLst/>
            <a:gdLst/>
            <a:ahLst/>
            <a:cxnLst/>
            <a:rect r="r" b="b" t="t" l="l"/>
            <a:pathLst>
              <a:path h="6951802" w="6847525">
                <a:moveTo>
                  <a:pt x="0" y="0"/>
                </a:moveTo>
                <a:lnTo>
                  <a:pt x="6847525" y="0"/>
                </a:lnTo>
                <a:lnTo>
                  <a:pt x="6847525" y="6951802"/>
                </a:lnTo>
                <a:lnTo>
                  <a:pt x="0" y="6951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80807" y="-1361380"/>
            <a:ext cx="5810979" cy="5899471"/>
          </a:xfrm>
          <a:custGeom>
            <a:avLst/>
            <a:gdLst/>
            <a:ahLst/>
            <a:cxnLst/>
            <a:rect r="r" b="b" t="t" l="l"/>
            <a:pathLst>
              <a:path h="5899471" w="5810979">
                <a:moveTo>
                  <a:pt x="0" y="0"/>
                </a:moveTo>
                <a:lnTo>
                  <a:pt x="5810979" y="0"/>
                </a:lnTo>
                <a:lnTo>
                  <a:pt x="5810979" y="5899471"/>
                </a:lnTo>
                <a:lnTo>
                  <a:pt x="0" y="58994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7377632" y="3456374"/>
            <a:ext cx="3532736" cy="3545832"/>
            <a:chOff x="0" y="0"/>
            <a:chExt cx="930433" cy="933882"/>
          </a:xfrm>
        </p:grpSpPr>
        <p:sp>
          <p:nvSpPr>
            <p:cNvPr name="Freeform 8" id="8"/>
            <p:cNvSpPr/>
            <p:nvPr/>
          </p:nvSpPr>
          <p:spPr>
            <a:xfrm flipH="false" flipV="false" rot="0">
              <a:off x="0" y="0"/>
              <a:ext cx="930433" cy="933882"/>
            </a:xfrm>
            <a:custGeom>
              <a:avLst/>
              <a:gdLst/>
              <a:ahLst/>
              <a:cxnLst/>
              <a:rect r="r" b="b" t="t" l="l"/>
              <a:pathLst>
                <a:path h="933882" w="930433">
                  <a:moveTo>
                    <a:pt x="52596" y="0"/>
                  </a:moveTo>
                  <a:lnTo>
                    <a:pt x="877837" y="0"/>
                  </a:lnTo>
                  <a:cubicBezTo>
                    <a:pt x="906885" y="0"/>
                    <a:pt x="930433" y="23548"/>
                    <a:pt x="930433" y="52596"/>
                  </a:cubicBezTo>
                  <a:lnTo>
                    <a:pt x="930433" y="881286"/>
                  </a:lnTo>
                  <a:cubicBezTo>
                    <a:pt x="930433" y="910334"/>
                    <a:pt x="906885" y="933882"/>
                    <a:pt x="877837" y="933882"/>
                  </a:cubicBezTo>
                  <a:lnTo>
                    <a:pt x="52596" y="933882"/>
                  </a:lnTo>
                  <a:cubicBezTo>
                    <a:pt x="23548" y="933882"/>
                    <a:pt x="0" y="910334"/>
                    <a:pt x="0" y="881286"/>
                  </a:cubicBezTo>
                  <a:lnTo>
                    <a:pt x="0" y="52596"/>
                  </a:lnTo>
                  <a:cubicBezTo>
                    <a:pt x="0" y="23548"/>
                    <a:pt x="23548" y="0"/>
                    <a:pt x="52596" y="0"/>
                  </a:cubicBezTo>
                  <a:close/>
                </a:path>
              </a:pathLst>
            </a:custGeom>
            <a:solidFill>
              <a:srgbClr val="FFFFFF"/>
            </a:solidFill>
            <a:ln w="104775" cap="rnd">
              <a:solidFill>
                <a:srgbClr val="F5F5F5"/>
              </a:solidFill>
              <a:prstDash val="solid"/>
              <a:round/>
            </a:ln>
          </p:spPr>
        </p:sp>
        <p:sp>
          <p:nvSpPr>
            <p:cNvPr name="TextBox 9" id="9"/>
            <p:cNvSpPr txBox="true"/>
            <p:nvPr/>
          </p:nvSpPr>
          <p:spPr>
            <a:xfrm>
              <a:off x="0" y="-85725"/>
              <a:ext cx="930433" cy="1019607"/>
            </a:xfrm>
            <a:prstGeom prst="rect">
              <a:avLst/>
            </a:prstGeom>
          </p:spPr>
          <p:txBody>
            <a:bodyPr anchor="ctr" rtlCol="false" tIns="50800" lIns="50800" bIns="50800" rIns="50800"/>
            <a:lstStyle/>
            <a:p>
              <a:pPr algn="ctr">
                <a:lnSpc>
                  <a:spcPts val="3562"/>
                </a:lnSpc>
              </a:pPr>
            </a:p>
          </p:txBody>
        </p:sp>
      </p:grpSp>
      <p:grpSp>
        <p:nvGrpSpPr>
          <p:cNvPr name="Group 10" id="10"/>
          <p:cNvGrpSpPr/>
          <p:nvPr/>
        </p:nvGrpSpPr>
        <p:grpSpPr>
          <a:xfrm rot="0">
            <a:off x="12088924" y="3456374"/>
            <a:ext cx="3532736" cy="3545832"/>
            <a:chOff x="0" y="0"/>
            <a:chExt cx="930433" cy="933882"/>
          </a:xfrm>
        </p:grpSpPr>
        <p:sp>
          <p:nvSpPr>
            <p:cNvPr name="Freeform 11" id="11"/>
            <p:cNvSpPr/>
            <p:nvPr/>
          </p:nvSpPr>
          <p:spPr>
            <a:xfrm flipH="false" flipV="false" rot="0">
              <a:off x="0" y="0"/>
              <a:ext cx="930433" cy="933882"/>
            </a:xfrm>
            <a:custGeom>
              <a:avLst/>
              <a:gdLst/>
              <a:ahLst/>
              <a:cxnLst/>
              <a:rect r="r" b="b" t="t" l="l"/>
              <a:pathLst>
                <a:path h="933882" w="930433">
                  <a:moveTo>
                    <a:pt x="52596" y="0"/>
                  </a:moveTo>
                  <a:lnTo>
                    <a:pt x="877837" y="0"/>
                  </a:lnTo>
                  <a:cubicBezTo>
                    <a:pt x="906885" y="0"/>
                    <a:pt x="930433" y="23548"/>
                    <a:pt x="930433" y="52596"/>
                  </a:cubicBezTo>
                  <a:lnTo>
                    <a:pt x="930433" y="881286"/>
                  </a:lnTo>
                  <a:cubicBezTo>
                    <a:pt x="930433" y="910334"/>
                    <a:pt x="906885" y="933882"/>
                    <a:pt x="877837" y="933882"/>
                  </a:cubicBezTo>
                  <a:lnTo>
                    <a:pt x="52596" y="933882"/>
                  </a:lnTo>
                  <a:cubicBezTo>
                    <a:pt x="23548" y="933882"/>
                    <a:pt x="0" y="910334"/>
                    <a:pt x="0" y="881286"/>
                  </a:cubicBezTo>
                  <a:lnTo>
                    <a:pt x="0" y="52596"/>
                  </a:lnTo>
                  <a:cubicBezTo>
                    <a:pt x="0" y="23548"/>
                    <a:pt x="23548" y="0"/>
                    <a:pt x="52596" y="0"/>
                  </a:cubicBezTo>
                  <a:close/>
                </a:path>
              </a:pathLst>
            </a:custGeom>
            <a:solidFill>
              <a:srgbClr val="FFFFFF"/>
            </a:solidFill>
            <a:ln w="104775" cap="rnd">
              <a:solidFill>
                <a:srgbClr val="F5F5F5"/>
              </a:solidFill>
              <a:prstDash val="solid"/>
              <a:round/>
            </a:ln>
          </p:spPr>
        </p:sp>
        <p:sp>
          <p:nvSpPr>
            <p:cNvPr name="TextBox 12" id="12"/>
            <p:cNvSpPr txBox="true"/>
            <p:nvPr/>
          </p:nvSpPr>
          <p:spPr>
            <a:xfrm>
              <a:off x="0" y="-85725"/>
              <a:ext cx="930433" cy="1019607"/>
            </a:xfrm>
            <a:prstGeom prst="rect">
              <a:avLst/>
            </a:prstGeom>
          </p:spPr>
          <p:txBody>
            <a:bodyPr anchor="ctr" rtlCol="false" tIns="50800" lIns="50800" bIns="50800" rIns="50800"/>
            <a:lstStyle/>
            <a:p>
              <a:pPr algn="ctr">
                <a:lnSpc>
                  <a:spcPts val="3562"/>
                </a:lnSpc>
              </a:pPr>
            </a:p>
          </p:txBody>
        </p:sp>
      </p:grpSp>
      <p:grpSp>
        <p:nvGrpSpPr>
          <p:cNvPr name="Group 13" id="13"/>
          <p:cNvGrpSpPr/>
          <p:nvPr/>
        </p:nvGrpSpPr>
        <p:grpSpPr>
          <a:xfrm rot="0">
            <a:off x="2663796" y="3456374"/>
            <a:ext cx="3532736" cy="3447686"/>
            <a:chOff x="0" y="0"/>
            <a:chExt cx="930433" cy="908033"/>
          </a:xfrm>
        </p:grpSpPr>
        <p:sp>
          <p:nvSpPr>
            <p:cNvPr name="Freeform 14" id="14"/>
            <p:cNvSpPr/>
            <p:nvPr/>
          </p:nvSpPr>
          <p:spPr>
            <a:xfrm flipH="false" flipV="false" rot="0">
              <a:off x="0" y="0"/>
              <a:ext cx="930433" cy="908033"/>
            </a:xfrm>
            <a:custGeom>
              <a:avLst/>
              <a:gdLst/>
              <a:ahLst/>
              <a:cxnLst/>
              <a:rect r="r" b="b" t="t" l="l"/>
              <a:pathLst>
                <a:path h="908033" w="930433">
                  <a:moveTo>
                    <a:pt x="52596" y="0"/>
                  </a:moveTo>
                  <a:lnTo>
                    <a:pt x="877837" y="0"/>
                  </a:lnTo>
                  <a:cubicBezTo>
                    <a:pt x="906885" y="0"/>
                    <a:pt x="930433" y="23548"/>
                    <a:pt x="930433" y="52596"/>
                  </a:cubicBezTo>
                  <a:lnTo>
                    <a:pt x="930433" y="855437"/>
                  </a:lnTo>
                  <a:cubicBezTo>
                    <a:pt x="930433" y="884485"/>
                    <a:pt x="906885" y="908033"/>
                    <a:pt x="877837" y="908033"/>
                  </a:cubicBezTo>
                  <a:lnTo>
                    <a:pt x="52596" y="908033"/>
                  </a:lnTo>
                  <a:cubicBezTo>
                    <a:pt x="23548" y="908033"/>
                    <a:pt x="0" y="884485"/>
                    <a:pt x="0" y="855437"/>
                  </a:cubicBezTo>
                  <a:lnTo>
                    <a:pt x="0" y="52596"/>
                  </a:lnTo>
                  <a:cubicBezTo>
                    <a:pt x="0" y="23548"/>
                    <a:pt x="23548" y="0"/>
                    <a:pt x="52596" y="0"/>
                  </a:cubicBezTo>
                  <a:close/>
                </a:path>
              </a:pathLst>
            </a:custGeom>
            <a:solidFill>
              <a:srgbClr val="FFFFFF"/>
            </a:solidFill>
            <a:ln w="104775" cap="rnd">
              <a:solidFill>
                <a:srgbClr val="F5F5F5"/>
              </a:solidFill>
              <a:prstDash val="solid"/>
              <a:round/>
            </a:ln>
          </p:spPr>
        </p:sp>
        <p:sp>
          <p:nvSpPr>
            <p:cNvPr name="TextBox 15" id="15"/>
            <p:cNvSpPr txBox="true"/>
            <p:nvPr/>
          </p:nvSpPr>
          <p:spPr>
            <a:xfrm>
              <a:off x="0" y="-85725"/>
              <a:ext cx="930433" cy="993758"/>
            </a:xfrm>
            <a:prstGeom prst="rect">
              <a:avLst/>
            </a:prstGeom>
          </p:spPr>
          <p:txBody>
            <a:bodyPr anchor="ctr" rtlCol="false" tIns="50800" lIns="50800" bIns="50800" rIns="50800"/>
            <a:lstStyle/>
            <a:p>
              <a:pPr algn="ctr">
                <a:lnSpc>
                  <a:spcPts val="3562"/>
                </a:lnSpc>
              </a:pPr>
            </a:p>
          </p:txBody>
        </p:sp>
      </p:grpSp>
      <p:sp>
        <p:nvSpPr>
          <p:cNvPr name="Freeform 16" id="16"/>
          <p:cNvSpPr/>
          <p:nvPr/>
        </p:nvSpPr>
        <p:spPr>
          <a:xfrm flipH="false" flipV="false" rot="0">
            <a:off x="708393" y="3698708"/>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6365839" y="6385916"/>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3982639" y="3981081"/>
            <a:ext cx="906593" cy="1058795"/>
          </a:xfrm>
          <a:custGeom>
            <a:avLst/>
            <a:gdLst/>
            <a:ahLst/>
            <a:cxnLst/>
            <a:rect r="r" b="b" t="t" l="l"/>
            <a:pathLst>
              <a:path h="1058795" w="906593">
                <a:moveTo>
                  <a:pt x="0" y="0"/>
                </a:moveTo>
                <a:lnTo>
                  <a:pt x="906594" y="0"/>
                </a:lnTo>
                <a:lnTo>
                  <a:pt x="906594" y="1058795"/>
                </a:lnTo>
                <a:lnTo>
                  <a:pt x="0" y="10587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8476902" y="3811156"/>
            <a:ext cx="1331652" cy="1331652"/>
          </a:xfrm>
          <a:custGeom>
            <a:avLst/>
            <a:gdLst/>
            <a:ahLst/>
            <a:cxnLst/>
            <a:rect r="r" b="b" t="t" l="l"/>
            <a:pathLst>
              <a:path h="1331652" w="1331652">
                <a:moveTo>
                  <a:pt x="0" y="0"/>
                </a:moveTo>
                <a:lnTo>
                  <a:pt x="1331652" y="0"/>
                </a:lnTo>
                <a:lnTo>
                  <a:pt x="1331652" y="1331652"/>
                </a:lnTo>
                <a:lnTo>
                  <a:pt x="0" y="13316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3240844" y="3862533"/>
            <a:ext cx="1228898" cy="1228898"/>
          </a:xfrm>
          <a:custGeom>
            <a:avLst/>
            <a:gdLst/>
            <a:ahLst/>
            <a:cxnLst/>
            <a:rect r="r" b="b" t="t" l="l"/>
            <a:pathLst>
              <a:path h="1228898" w="1228898">
                <a:moveTo>
                  <a:pt x="0" y="0"/>
                </a:moveTo>
                <a:lnTo>
                  <a:pt x="1228897" y="0"/>
                </a:lnTo>
                <a:lnTo>
                  <a:pt x="1228897" y="1228898"/>
                </a:lnTo>
                <a:lnTo>
                  <a:pt x="0" y="122889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1" id="21"/>
          <p:cNvSpPr txBox="true"/>
          <p:nvPr/>
        </p:nvSpPr>
        <p:spPr>
          <a:xfrm rot="0">
            <a:off x="5219799" y="1155949"/>
            <a:ext cx="7848402" cy="1921256"/>
          </a:xfrm>
          <a:prstGeom prst="rect">
            <a:avLst/>
          </a:prstGeom>
        </p:spPr>
        <p:txBody>
          <a:bodyPr anchor="t" rtlCol="false" tIns="0" lIns="0" bIns="0" rIns="0">
            <a:spAutoFit/>
          </a:bodyPr>
          <a:lstStyle/>
          <a:p>
            <a:pPr algn="ctr">
              <a:lnSpc>
                <a:spcPts val="7552"/>
              </a:lnSpc>
            </a:pPr>
            <a:r>
              <a:rPr lang="en-US" sz="6400" b="true">
                <a:solidFill>
                  <a:srgbClr val="6788C0"/>
                </a:solidFill>
                <a:latin typeface="Nexa Bold"/>
                <a:ea typeface="Nexa Bold"/>
                <a:cs typeface="Nexa Bold"/>
                <a:sym typeface="Nexa Bold"/>
              </a:rPr>
              <a:t>Architectural Patterns</a:t>
            </a:r>
          </a:p>
        </p:txBody>
      </p:sp>
      <p:sp>
        <p:nvSpPr>
          <p:cNvPr name="TextBox 22" id="22"/>
          <p:cNvSpPr txBox="true"/>
          <p:nvPr/>
        </p:nvSpPr>
        <p:spPr>
          <a:xfrm rot="0">
            <a:off x="7631054" y="5751932"/>
            <a:ext cx="3025892" cy="691642"/>
          </a:xfrm>
          <a:prstGeom prst="rect">
            <a:avLst/>
          </a:prstGeom>
        </p:spPr>
        <p:txBody>
          <a:bodyPr anchor="t" rtlCol="false" tIns="0" lIns="0" bIns="0" rIns="0">
            <a:spAutoFit/>
          </a:bodyPr>
          <a:lstStyle/>
          <a:p>
            <a:pPr algn="ctr">
              <a:lnSpc>
                <a:spcPts val="2713"/>
              </a:lnSpc>
            </a:pPr>
            <a:r>
              <a:rPr lang="en-US" sz="2299" b="true">
                <a:solidFill>
                  <a:srgbClr val="6788C0"/>
                </a:solidFill>
                <a:latin typeface="Nexa Bold"/>
                <a:ea typeface="Nexa Bold"/>
                <a:cs typeface="Nexa Bold"/>
                <a:sym typeface="Nexa Bold"/>
              </a:rPr>
              <a:t>Model-View-Controller (MVC)</a:t>
            </a:r>
          </a:p>
        </p:txBody>
      </p:sp>
      <p:sp>
        <p:nvSpPr>
          <p:cNvPr name="TextBox 23" id="23"/>
          <p:cNvSpPr txBox="true"/>
          <p:nvPr/>
        </p:nvSpPr>
        <p:spPr>
          <a:xfrm rot="0">
            <a:off x="2922990" y="5751932"/>
            <a:ext cx="3025892" cy="691642"/>
          </a:xfrm>
          <a:prstGeom prst="rect">
            <a:avLst/>
          </a:prstGeom>
        </p:spPr>
        <p:txBody>
          <a:bodyPr anchor="t" rtlCol="false" tIns="0" lIns="0" bIns="0" rIns="0">
            <a:spAutoFit/>
          </a:bodyPr>
          <a:lstStyle/>
          <a:p>
            <a:pPr algn="ctr">
              <a:lnSpc>
                <a:spcPts val="2713"/>
              </a:lnSpc>
            </a:pPr>
            <a:r>
              <a:rPr lang="en-US" sz="2299" b="true">
                <a:solidFill>
                  <a:srgbClr val="6788C0"/>
                </a:solidFill>
                <a:latin typeface="Nexa Bold"/>
                <a:ea typeface="Nexa Bold"/>
                <a:cs typeface="Nexa Bold"/>
                <a:sym typeface="Nexa Bold"/>
              </a:rPr>
              <a:t>Three-Tier Architecture</a:t>
            </a:r>
          </a:p>
        </p:txBody>
      </p:sp>
      <p:sp>
        <p:nvSpPr>
          <p:cNvPr name="TextBox 24" id="24"/>
          <p:cNvSpPr txBox="true"/>
          <p:nvPr/>
        </p:nvSpPr>
        <p:spPr>
          <a:xfrm rot="0">
            <a:off x="12415318" y="5751932"/>
            <a:ext cx="3025892" cy="691642"/>
          </a:xfrm>
          <a:prstGeom prst="rect">
            <a:avLst/>
          </a:prstGeom>
        </p:spPr>
        <p:txBody>
          <a:bodyPr anchor="t" rtlCol="false" tIns="0" lIns="0" bIns="0" rIns="0">
            <a:spAutoFit/>
          </a:bodyPr>
          <a:lstStyle/>
          <a:p>
            <a:pPr algn="ctr">
              <a:lnSpc>
                <a:spcPts val="2713"/>
              </a:lnSpc>
            </a:pPr>
            <a:r>
              <a:rPr lang="en-US" sz="2299" b="true">
                <a:solidFill>
                  <a:srgbClr val="6788C0"/>
                </a:solidFill>
                <a:latin typeface="Nexa Bold"/>
                <a:ea typeface="Nexa Bold"/>
                <a:cs typeface="Nexa Bold"/>
                <a:sym typeface="Nexa Bold"/>
              </a:rPr>
              <a:t>Microservices</a:t>
            </a:r>
          </a:p>
          <a:p>
            <a:pPr algn="ctr">
              <a:lnSpc>
                <a:spcPts val="2713"/>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452547"/>
            <a:ext cx="18288000" cy="4834453"/>
            <a:chOff x="0" y="0"/>
            <a:chExt cx="4816593" cy="1273272"/>
          </a:xfrm>
        </p:grpSpPr>
        <p:sp>
          <p:nvSpPr>
            <p:cNvPr name="Freeform 3" id="3"/>
            <p:cNvSpPr/>
            <p:nvPr/>
          </p:nvSpPr>
          <p:spPr>
            <a:xfrm flipH="false" flipV="false" rot="0">
              <a:off x="0" y="0"/>
              <a:ext cx="4816592" cy="1273272"/>
            </a:xfrm>
            <a:custGeom>
              <a:avLst/>
              <a:gdLst/>
              <a:ahLst/>
              <a:cxnLst/>
              <a:rect r="r" b="b" t="t" l="l"/>
              <a:pathLst>
                <a:path h="1273272" w="4816592">
                  <a:moveTo>
                    <a:pt x="0" y="0"/>
                  </a:moveTo>
                  <a:lnTo>
                    <a:pt x="4816592" y="0"/>
                  </a:lnTo>
                  <a:lnTo>
                    <a:pt x="4816592" y="1273272"/>
                  </a:lnTo>
                  <a:lnTo>
                    <a:pt x="0" y="1273272"/>
                  </a:lnTo>
                  <a:close/>
                </a:path>
              </a:pathLst>
            </a:custGeom>
            <a:gradFill rotWithShape="true">
              <a:gsLst>
                <a:gs pos="0">
                  <a:srgbClr val="537EBD">
                    <a:alpha val="100000"/>
                  </a:srgbClr>
                </a:gs>
                <a:gs pos="100000">
                  <a:srgbClr val="AEDDDF">
                    <a:alpha val="100000"/>
                  </a:srgbClr>
                </a:gs>
              </a:gsLst>
              <a:lin ang="5400000"/>
            </a:gradFill>
          </p:spPr>
        </p:sp>
        <p:sp>
          <p:nvSpPr>
            <p:cNvPr name="TextBox 4" id="4"/>
            <p:cNvSpPr txBox="true"/>
            <p:nvPr/>
          </p:nvSpPr>
          <p:spPr>
            <a:xfrm>
              <a:off x="0" y="-85725"/>
              <a:ext cx="4816593" cy="1358997"/>
            </a:xfrm>
            <a:prstGeom prst="rect">
              <a:avLst/>
            </a:prstGeom>
          </p:spPr>
          <p:txBody>
            <a:bodyPr anchor="ctr" rtlCol="false" tIns="50800" lIns="50800" bIns="50800" rIns="50800"/>
            <a:lstStyle/>
            <a:p>
              <a:pPr algn="ctr">
                <a:lnSpc>
                  <a:spcPts val="3562"/>
                </a:lnSpc>
              </a:pPr>
            </a:p>
          </p:txBody>
        </p:sp>
      </p:grpSp>
      <p:sp>
        <p:nvSpPr>
          <p:cNvPr name="Freeform 5" id="5"/>
          <p:cNvSpPr/>
          <p:nvPr/>
        </p:nvSpPr>
        <p:spPr>
          <a:xfrm flipH="false" flipV="false" rot="0">
            <a:off x="12711554" y="6670708"/>
            <a:ext cx="6847525" cy="6951802"/>
          </a:xfrm>
          <a:custGeom>
            <a:avLst/>
            <a:gdLst/>
            <a:ahLst/>
            <a:cxnLst/>
            <a:rect r="r" b="b" t="t" l="l"/>
            <a:pathLst>
              <a:path h="6951802" w="6847525">
                <a:moveTo>
                  <a:pt x="0" y="0"/>
                </a:moveTo>
                <a:lnTo>
                  <a:pt x="6847525" y="0"/>
                </a:lnTo>
                <a:lnTo>
                  <a:pt x="6847525" y="6951802"/>
                </a:lnTo>
                <a:lnTo>
                  <a:pt x="0" y="6951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80807" y="-1361380"/>
            <a:ext cx="5810979" cy="5899471"/>
          </a:xfrm>
          <a:custGeom>
            <a:avLst/>
            <a:gdLst/>
            <a:ahLst/>
            <a:cxnLst/>
            <a:rect r="r" b="b" t="t" l="l"/>
            <a:pathLst>
              <a:path h="5899471" w="5810979">
                <a:moveTo>
                  <a:pt x="0" y="0"/>
                </a:moveTo>
                <a:lnTo>
                  <a:pt x="5810979" y="0"/>
                </a:lnTo>
                <a:lnTo>
                  <a:pt x="5810979" y="5899471"/>
                </a:lnTo>
                <a:lnTo>
                  <a:pt x="0" y="58994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0199987" y="3533601"/>
            <a:ext cx="3532736" cy="3137106"/>
            <a:chOff x="0" y="0"/>
            <a:chExt cx="930433" cy="826234"/>
          </a:xfrm>
        </p:grpSpPr>
        <p:sp>
          <p:nvSpPr>
            <p:cNvPr name="Freeform 8" id="8"/>
            <p:cNvSpPr/>
            <p:nvPr/>
          </p:nvSpPr>
          <p:spPr>
            <a:xfrm flipH="false" flipV="false" rot="0">
              <a:off x="0" y="0"/>
              <a:ext cx="930433" cy="826234"/>
            </a:xfrm>
            <a:custGeom>
              <a:avLst/>
              <a:gdLst/>
              <a:ahLst/>
              <a:cxnLst/>
              <a:rect r="r" b="b" t="t" l="l"/>
              <a:pathLst>
                <a:path h="826234" w="930433">
                  <a:moveTo>
                    <a:pt x="52596" y="0"/>
                  </a:moveTo>
                  <a:lnTo>
                    <a:pt x="877837" y="0"/>
                  </a:lnTo>
                  <a:cubicBezTo>
                    <a:pt x="906885" y="0"/>
                    <a:pt x="930433" y="23548"/>
                    <a:pt x="930433" y="52596"/>
                  </a:cubicBezTo>
                  <a:lnTo>
                    <a:pt x="930433" y="773638"/>
                  </a:lnTo>
                  <a:cubicBezTo>
                    <a:pt x="930433" y="802686"/>
                    <a:pt x="906885" y="826234"/>
                    <a:pt x="877837" y="826234"/>
                  </a:cubicBezTo>
                  <a:lnTo>
                    <a:pt x="52596" y="826234"/>
                  </a:lnTo>
                  <a:cubicBezTo>
                    <a:pt x="23548" y="826234"/>
                    <a:pt x="0" y="802686"/>
                    <a:pt x="0" y="773638"/>
                  </a:cubicBezTo>
                  <a:lnTo>
                    <a:pt x="0" y="52596"/>
                  </a:lnTo>
                  <a:cubicBezTo>
                    <a:pt x="0" y="23548"/>
                    <a:pt x="23548" y="0"/>
                    <a:pt x="52596" y="0"/>
                  </a:cubicBezTo>
                  <a:close/>
                </a:path>
              </a:pathLst>
            </a:custGeom>
            <a:solidFill>
              <a:srgbClr val="FFFFFF"/>
            </a:solidFill>
            <a:ln w="104775" cap="rnd">
              <a:solidFill>
                <a:srgbClr val="F5F5F5"/>
              </a:solidFill>
              <a:prstDash val="solid"/>
              <a:round/>
            </a:ln>
          </p:spPr>
        </p:sp>
        <p:sp>
          <p:nvSpPr>
            <p:cNvPr name="TextBox 9" id="9"/>
            <p:cNvSpPr txBox="true"/>
            <p:nvPr/>
          </p:nvSpPr>
          <p:spPr>
            <a:xfrm>
              <a:off x="0" y="-85725"/>
              <a:ext cx="930433" cy="911959"/>
            </a:xfrm>
            <a:prstGeom prst="rect">
              <a:avLst/>
            </a:prstGeom>
          </p:spPr>
          <p:txBody>
            <a:bodyPr anchor="ctr" rtlCol="false" tIns="50800" lIns="50800" bIns="50800" rIns="50800"/>
            <a:lstStyle/>
            <a:p>
              <a:pPr algn="ctr">
                <a:lnSpc>
                  <a:spcPts val="3562"/>
                </a:lnSpc>
              </a:pPr>
            </a:p>
          </p:txBody>
        </p:sp>
      </p:grpSp>
      <p:grpSp>
        <p:nvGrpSpPr>
          <p:cNvPr name="Group 10" id="10"/>
          <p:cNvGrpSpPr/>
          <p:nvPr/>
        </p:nvGrpSpPr>
        <p:grpSpPr>
          <a:xfrm rot="0">
            <a:off x="4050406" y="3533601"/>
            <a:ext cx="3532736" cy="3137106"/>
            <a:chOff x="0" y="0"/>
            <a:chExt cx="930433" cy="826234"/>
          </a:xfrm>
        </p:grpSpPr>
        <p:sp>
          <p:nvSpPr>
            <p:cNvPr name="Freeform 11" id="11"/>
            <p:cNvSpPr/>
            <p:nvPr/>
          </p:nvSpPr>
          <p:spPr>
            <a:xfrm flipH="false" flipV="false" rot="0">
              <a:off x="0" y="0"/>
              <a:ext cx="930433" cy="826234"/>
            </a:xfrm>
            <a:custGeom>
              <a:avLst/>
              <a:gdLst/>
              <a:ahLst/>
              <a:cxnLst/>
              <a:rect r="r" b="b" t="t" l="l"/>
              <a:pathLst>
                <a:path h="826234" w="930433">
                  <a:moveTo>
                    <a:pt x="52596" y="0"/>
                  </a:moveTo>
                  <a:lnTo>
                    <a:pt x="877837" y="0"/>
                  </a:lnTo>
                  <a:cubicBezTo>
                    <a:pt x="906885" y="0"/>
                    <a:pt x="930433" y="23548"/>
                    <a:pt x="930433" y="52596"/>
                  </a:cubicBezTo>
                  <a:lnTo>
                    <a:pt x="930433" y="773638"/>
                  </a:lnTo>
                  <a:cubicBezTo>
                    <a:pt x="930433" y="802686"/>
                    <a:pt x="906885" y="826234"/>
                    <a:pt x="877837" y="826234"/>
                  </a:cubicBezTo>
                  <a:lnTo>
                    <a:pt x="52596" y="826234"/>
                  </a:lnTo>
                  <a:cubicBezTo>
                    <a:pt x="23548" y="826234"/>
                    <a:pt x="0" y="802686"/>
                    <a:pt x="0" y="773638"/>
                  </a:cubicBezTo>
                  <a:lnTo>
                    <a:pt x="0" y="52596"/>
                  </a:lnTo>
                  <a:cubicBezTo>
                    <a:pt x="0" y="23548"/>
                    <a:pt x="23548" y="0"/>
                    <a:pt x="52596" y="0"/>
                  </a:cubicBezTo>
                  <a:close/>
                </a:path>
              </a:pathLst>
            </a:custGeom>
            <a:solidFill>
              <a:srgbClr val="FFFFFF"/>
            </a:solidFill>
            <a:ln w="104775" cap="rnd">
              <a:solidFill>
                <a:srgbClr val="F5F5F5"/>
              </a:solidFill>
              <a:prstDash val="solid"/>
              <a:round/>
            </a:ln>
          </p:spPr>
        </p:sp>
        <p:sp>
          <p:nvSpPr>
            <p:cNvPr name="TextBox 12" id="12"/>
            <p:cNvSpPr txBox="true"/>
            <p:nvPr/>
          </p:nvSpPr>
          <p:spPr>
            <a:xfrm>
              <a:off x="0" y="-85725"/>
              <a:ext cx="930433" cy="911959"/>
            </a:xfrm>
            <a:prstGeom prst="rect">
              <a:avLst/>
            </a:prstGeom>
          </p:spPr>
          <p:txBody>
            <a:bodyPr anchor="ctr" rtlCol="false" tIns="50800" lIns="50800" bIns="50800" rIns="50800"/>
            <a:lstStyle/>
            <a:p>
              <a:pPr algn="ctr">
                <a:lnSpc>
                  <a:spcPts val="3562"/>
                </a:lnSpc>
              </a:pPr>
            </a:p>
          </p:txBody>
        </p:sp>
      </p:grpSp>
      <p:sp>
        <p:nvSpPr>
          <p:cNvPr name="Freeform 13" id="13"/>
          <p:cNvSpPr/>
          <p:nvPr/>
        </p:nvSpPr>
        <p:spPr>
          <a:xfrm flipH="false" flipV="false" rot="0">
            <a:off x="708393" y="3698708"/>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6365839" y="6385916"/>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1376444" y="3957766"/>
            <a:ext cx="1179823" cy="1160651"/>
          </a:xfrm>
          <a:custGeom>
            <a:avLst/>
            <a:gdLst/>
            <a:ahLst/>
            <a:cxnLst/>
            <a:rect r="r" b="b" t="t" l="l"/>
            <a:pathLst>
              <a:path h="1160651" w="1179823">
                <a:moveTo>
                  <a:pt x="0" y="0"/>
                </a:moveTo>
                <a:lnTo>
                  <a:pt x="1179823" y="0"/>
                </a:lnTo>
                <a:lnTo>
                  <a:pt x="1179823" y="1160651"/>
                </a:lnTo>
                <a:lnTo>
                  <a:pt x="0" y="11606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5219799" y="1155949"/>
            <a:ext cx="7848402" cy="1921256"/>
          </a:xfrm>
          <a:prstGeom prst="rect">
            <a:avLst/>
          </a:prstGeom>
        </p:spPr>
        <p:txBody>
          <a:bodyPr anchor="t" rtlCol="false" tIns="0" lIns="0" bIns="0" rIns="0">
            <a:spAutoFit/>
          </a:bodyPr>
          <a:lstStyle/>
          <a:p>
            <a:pPr algn="ctr">
              <a:lnSpc>
                <a:spcPts val="7552"/>
              </a:lnSpc>
            </a:pPr>
            <a:r>
              <a:rPr lang="en-US" sz="6400" b="true">
                <a:solidFill>
                  <a:srgbClr val="6788C0"/>
                </a:solidFill>
                <a:latin typeface="Nexa Bold"/>
                <a:ea typeface="Nexa Bold"/>
                <a:cs typeface="Nexa Bold"/>
                <a:sym typeface="Nexa Bold"/>
              </a:rPr>
              <a:t>Security &amp; Performance</a:t>
            </a:r>
          </a:p>
        </p:txBody>
      </p:sp>
      <p:sp>
        <p:nvSpPr>
          <p:cNvPr name="TextBox 17" id="17"/>
          <p:cNvSpPr txBox="true"/>
          <p:nvPr/>
        </p:nvSpPr>
        <p:spPr>
          <a:xfrm rot="0">
            <a:off x="10453410" y="5609709"/>
            <a:ext cx="3025892" cy="633984"/>
          </a:xfrm>
          <a:prstGeom prst="rect">
            <a:avLst/>
          </a:prstGeom>
        </p:spPr>
        <p:txBody>
          <a:bodyPr anchor="t" rtlCol="false" tIns="0" lIns="0" bIns="0" rIns="0">
            <a:spAutoFit/>
          </a:bodyPr>
          <a:lstStyle/>
          <a:p>
            <a:pPr algn="ctr">
              <a:lnSpc>
                <a:spcPts val="2477"/>
              </a:lnSpc>
            </a:pPr>
            <a:r>
              <a:rPr lang="en-US" sz="2100" b="true">
                <a:solidFill>
                  <a:srgbClr val="6788C0"/>
                </a:solidFill>
                <a:latin typeface="Nexa Bold"/>
                <a:ea typeface="Nexa Bold"/>
                <a:cs typeface="Nexa Bold"/>
                <a:sym typeface="Nexa Bold"/>
              </a:rPr>
              <a:t>Performance Optimization</a:t>
            </a:r>
          </a:p>
        </p:txBody>
      </p:sp>
      <p:sp>
        <p:nvSpPr>
          <p:cNvPr name="Freeform 18" id="18"/>
          <p:cNvSpPr/>
          <p:nvPr/>
        </p:nvSpPr>
        <p:spPr>
          <a:xfrm flipH="false" flipV="false" rot="0">
            <a:off x="5354109" y="4025442"/>
            <a:ext cx="925331" cy="1025298"/>
          </a:xfrm>
          <a:custGeom>
            <a:avLst/>
            <a:gdLst/>
            <a:ahLst/>
            <a:cxnLst/>
            <a:rect r="r" b="b" t="t" l="l"/>
            <a:pathLst>
              <a:path h="1025298" w="925331">
                <a:moveTo>
                  <a:pt x="0" y="0"/>
                </a:moveTo>
                <a:lnTo>
                  <a:pt x="925331" y="0"/>
                </a:lnTo>
                <a:lnTo>
                  <a:pt x="925331" y="1025298"/>
                </a:lnTo>
                <a:lnTo>
                  <a:pt x="0" y="10252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4303829" y="5609709"/>
            <a:ext cx="3025892" cy="633984"/>
          </a:xfrm>
          <a:prstGeom prst="rect">
            <a:avLst/>
          </a:prstGeom>
        </p:spPr>
        <p:txBody>
          <a:bodyPr anchor="t" rtlCol="false" tIns="0" lIns="0" bIns="0" rIns="0">
            <a:spAutoFit/>
          </a:bodyPr>
          <a:lstStyle/>
          <a:p>
            <a:pPr algn="ctr">
              <a:lnSpc>
                <a:spcPts val="2477"/>
              </a:lnSpc>
            </a:pPr>
            <a:r>
              <a:rPr lang="en-US" sz="2100" b="true">
                <a:solidFill>
                  <a:srgbClr val="6788C0"/>
                </a:solidFill>
                <a:latin typeface="Nexa Bold"/>
                <a:ea typeface="Nexa Bold"/>
                <a:cs typeface="Nexa Bold"/>
                <a:sym typeface="Nexa Bold"/>
              </a:rPr>
              <a:t>Security Considerations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37EBD">
                <a:alpha val="100000"/>
              </a:srgbClr>
            </a:gs>
            <a:gs pos="100000">
              <a:srgbClr val="AEDDDF">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5047894" y="4095767"/>
            <a:ext cx="8192211" cy="1554889"/>
          </a:xfrm>
          <a:prstGeom prst="rect">
            <a:avLst/>
          </a:prstGeom>
        </p:spPr>
        <p:txBody>
          <a:bodyPr anchor="t" rtlCol="false" tIns="0" lIns="0" bIns="0" rIns="0">
            <a:spAutoFit/>
          </a:bodyPr>
          <a:lstStyle/>
          <a:p>
            <a:pPr algn="l">
              <a:lnSpc>
                <a:spcPts val="12720"/>
              </a:lnSpc>
            </a:pPr>
            <a:r>
              <a:rPr lang="en-US" sz="9085" b="true">
                <a:solidFill>
                  <a:srgbClr val="FFFFFF"/>
                </a:solidFill>
                <a:latin typeface="Nexa Bold"/>
                <a:ea typeface="Nexa Bold"/>
                <a:cs typeface="Nexa Bold"/>
                <a:sym typeface="Nexa Bold"/>
              </a:rPr>
              <a:t>CONCLUSION</a:t>
            </a:r>
          </a:p>
        </p:txBody>
      </p:sp>
      <p:sp>
        <p:nvSpPr>
          <p:cNvPr name="Freeform 3" id="3"/>
          <p:cNvSpPr/>
          <p:nvPr/>
        </p:nvSpPr>
        <p:spPr>
          <a:xfrm flipH="false" flipV="false" rot="0">
            <a:off x="-1284796" y="-1808302"/>
            <a:ext cx="3273288" cy="3323135"/>
          </a:xfrm>
          <a:custGeom>
            <a:avLst/>
            <a:gdLst/>
            <a:ahLst/>
            <a:cxnLst/>
            <a:rect r="r" b="b" t="t" l="l"/>
            <a:pathLst>
              <a:path h="3323135" w="3273288">
                <a:moveTo>
                  <a:pt x="0" y="0"/>
                </a:moveTo>
                <a:lnTo>
                  <a:pt x="3273289" y="0"/>
                </a:lnTo>
                <a:lnTo>
                  <a:pt x="3273289" y="3323135"/>
                </a:lnTo>
                <a:lnTo>
                  <a:pt x="0" y="3323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238595" y="6368715"/>
            <a:ext cx="7309170" cy="7420478"/>
          </a:xfrm>
          <a:custGeom>
            <a:avLst/>
            <a:gdLst/>
            <a:ahLst/>
            <a:cxnLst/>
            <a:rect r="r" b="b" t="t" l="l"/>
            <a:pathLst>
              <a:path h="7420478" w="7309170">
                <a:moveTo>
                  <a:pt x="0" y="0"/>
                </a:moveTo>
                <a:lnTo>
                  <a:pt x="7309170" y="0"/>
                </a:lnTo>
                <a:lnTo>
                  <a:pt x="7309170" y="7420477"/>
                </a:lnTo>
                <a:lnTo>
                  <a:pt x="0" y="74204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89302" y="639694"/>
            <a:ext cx="1102911" cy="1102911"/>
          </a:xfrm>
          <a:custGeom>
            <a:avLst/>
            <a:gdLst/>
            <a:ahLst/>
            <a:cxnLst/>
            <a:rect r="r" b="b" t="t" l="l"/>
            <a:pathLst>
              <a:path h="1102911" w="1102911">
                <a:moveTo>
                  <a:pt x="0" y="0"/>
                </a:moveTo>
                <a:lnTo>
                  <a:pt x="1102912" y="0"/>
                </a:lnTo>
                <a:lnTo>
                  <a:pt x="1102912" y="1102912"/>
                </a:lnTo>
                <a:lnTo>
                  <a:pt x="0" y="11029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728397" y="8319305"/>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37EBD">
                <a:alpha val="100000"/>
              </a:srgbClr>
            </a:gs>
            <a:gs pos="100000">
              <a:srgbClr val="AEDDDF">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5047894" y="4095767"/>
            <a:ext cx="8192211" cy="1554889"/>
          </a:xfrm>
          <a:prstGeom prst="rect">
            <a:avLst/>
          </a:prstGeom>
        </p:spPr>
        <p:txBody>
          <a:bodyPr anchor="t" rtlCol="false" tIns="0" lIns="0" bIns="0" rIns="0">
            <a:spAutoFit/>
          </a:bodyPr>
          <a:lstStyle/>
          <a:p>
            <a:pPr algn="l">
              <a:lnSpc>
                <a:spcPts val="12720"/>
              </a:lnSpc>
            </a:pPr>
            <a:r>
              <a:rPr lang="en-US" sz="9085" b="true">
                <a:solidFill>
                  <a:srgbClr val="FFFFFF"/>
                </a:solidFill>
                <a:latin typeface="Nexa Bold"/>
                <a:ea typeface="Nexa Bold"/>
                <a:cs typeface="Nexa Bold"/>
                <a:sym typeface="Nexa Bold"/>
              </a:rPr>
              <a:t>THANK YOU!</a:t>
            </a:r>
          </a:p>
        </p:txBody>
      </p:sp>
      <p:sp>
        <p:nvSpPr>
          <p:cNvPr name="Freeform 3" id="3"/>
          <p:cNvSpPr/>
          <p:nvPr/>
        </p:nvSpPr>
        <p:spPr>
          <a:xfrm flipH="false" flipV="false" rot="0">
            <a:off x="-1284796" y="-1808302"/>
            <a:ext cx="3273288" cy="3323135"/>
          </a:xfrm>
          <a:custGeom>
            <a:avLst/>
            <a:gdLst/>
            <a:ahLst/>
            <a:cxnLst/>
            <a:rect r="r" b="b" t="t" l="l"/>
            <a:pathLst>
              <a:path h="3323135" w="3273288">
                <a:moveTo>
                  <a:pt x="0" y="0"/>
                </a:moveTo>
                <a:lnTo>
                  <a:pt x="3273289" y="0"/>
                </a:lnTo>
                <a:lnTo>
                  <a:pt x="3273289" y="3323135"/>
                </a:lnTo>
                <a:lnTo>
                  <a:pt x="0" y="3323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238595" y="6368715"/>
            <a:ext cx="7309170" cy="7420478"/>
          </a:xfrm>
          <a:custGeom>
            <a:avLst/>
            <a:gdLst/>
            <a:ahLst/>
            <a:cxnLst/>
            <a:rect r="r" b="b" t="t" l="l"/>
            <a:pathLst>
              <a:path h="7420478" w="7309170">
                <a:moveTo>
                  <a:pt x="0" y="0"/>
                </a:moveTo>
                <a:lnTo>
                  <a:pt x="7309170" y="0"/>
                </a:lnTo>
                <a:lnTo>
                  <a:pt x="7309170" y="7420477"/>
                </a:lnTo>
                <a:lnTo>
                  <a:pt x="0" y="74204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89302" y="639694"/>
            <a:ext cx="1102911" cy="1102911"/>
          </a:xfrm>
          <a:custGeom>
            <a:avLst/>
            <a:gdLst/>
            <a:ahLst/>
            <a:cxnLst/>
            <a:rect r="r" b="b" t="t" l="l"/>
            <a:pathLst>
              <a:path h="1102911" w="1102911">
                <a:moveTo>
                  <a:pt x="0" y="0"/>
                </a:moveTo>
                <a:lnTo>
                  <a:pt x="1102912" y="0"/>
                </a:lnTo>
                <a:lnTo>
                  <a:pt x="1102912" y="1102912"/>
                </a:lnTo>
                <a:lnTo>
                  <a:pt x="0" y="11029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728397" y="8319305"/>
            <a:ext cx="1232580" cy="1232580"/>
          </a:xfrm>
          <a:custGeom>
            <a:avLst/>
            <a:gdLst/>
            <a:ahLst/>
            <a:cxnLst/>
            <a:rect r="r" b="b" t="t" l="l"/>
            <a:pathLst>
              <a:path h="1232580" w="1232580">
                <a:moveTo>
                  <a:pt x="0" y="0"/>
                </a:moveTo>
                <a:lnTo>
                  <a:pt x="1232580" y="0"/>
                </a:lnTo>
                <a:lnTo>
                  <a:pt x="1232580" y="1232580"/>
                </a:lnTo>
                <a:lnTo>
                  <a:pt x="0" y="12325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DAGfnbN7D5o</dc:identifier>
  <dcterms:modified xsi:type="dcterms:W3CDTF">2011-08-01T06:04:30Z</dcterms:modified>
  <cp:revision>1</cp:revision>
  <dc:title>23.ads_ISE1</dc:title>
</cp:coreProperties>
</file>